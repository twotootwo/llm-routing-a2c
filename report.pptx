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84" r:id="rId5"/>
    <p:sldId id="283" r:id="rId6"/>
    <p:sldId id="258" r:id="rId7"/>
    <p:sldId id="285" r:id="rId8"/>
    <p:sldId id="274" r:id="rId9"/>
    <p:sldId id="263" r:id="rId10"/>
    <p:sldId id="260" r:id="rId11"/>
    <p:sldId id="262" r:id="rId12"/>
    <p:sldId id="264" r:id="rId13"/>
    <p:sldId id="273" r:id="rId14"/>
    <p:sldId id="261" r:id="rId15"/>
    <p:sldId id="266" r:id="rId16"/>
    <p:sldId id="268" r:id="rId17"/>
    <p:sldId id="272" r:id="rId18"/>
    <p:sldId id="269" r:id="rId19"/>
    <p:sldId id="271" r:id="rId20"/>
    <p:sldId id="270" r:id="rId21"/>
    <p:sldId id="275" r:id="rId22"/>
    <p:sldId id="276" r:id="rId23"/>
    <p:sldId id="277" r:id="rId24"/>
    <p:sldId id="278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ko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4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300"/>
    <p:restoredTop sz="94719"/>
  </p:normalViewPr>
  <p:slideViewPr>
    <p:cSldViewPr snapToGrid="0">
      <p:cViewPr>
        <p:scale>
          <a:sx n="110" d="100"/>
          <a:sy n="110" d="100"/>
        </p:scale>
        <p:origin x="248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953073-3F6D-CB98-8FEF-FADDD75EDD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D6593F3-D7D0-4A26-193D-9E688EDA5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881FB2-9100-DE29-9011-D717F5615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5F3A-F86D-3048-8012-4242B24F116F}" type="datetimeFigureOut">
              <a:rPr lang="ko-US" smtClean="0"/>
              <a:t>12/7/25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9E89B9-3ED1-7FA4-73A0-CD6EB4113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EC5B26-577E-6670-E7B9-C09B5D085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5657-F329-E343-A0F5-CD8658A74D11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0604478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829E0A-7CA6-8217-6715-377E6D3C05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ko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3E302B-B854-C84F-4E71-F2FD1D16C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5F3A-F86D-3048-8012-4242B24F116F}" type="datetimeFigureOut">
              <a:rPr lang="ko-US" smtClean="0"/>
              <a:t>12/7/25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DC89DC-8964-4D7E-1720-60ED6538E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36AF49-FF57-8268-468A-B33F04D4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5657-F329-E343-A0F5-CD8658A74D11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623001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7B0A9-C453-EAF8-30EE-4207C048F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721B9A-B803-B371-3EFA-04F3D96D4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F02FA75-E544-F2A6-F6FF-F92405613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5F3A-F86D-3048-8012-4242B24F116F}" type="datetimeFigureOut">
              <a:rPr lang="ko-US" smtClean="0"/>
              <a:t>12/7/25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8AEB32-38EA-B84A-6148-FD588F038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6D0C57-5303-A7B2-AEB6-710BDB2F4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5657-F329-E343-A0F5-CD8658A74D11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0986966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E5C75C-88E9-86C7-D855-FB0E4F063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093730-E575-D8DD-C4BF-85211BCB7D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62F047-40DF-F5E3-118B-B566664A12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000291-1D7B-8E38-4626-4A32D9F8F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5F3A-F86D-3048-8012-4242B24F116F}" type="datetimeFigureOut">
              <a:rPr lang="ko-US" smtClean="0"/>
              <a:t>12/7/25</a:t>
            </a:fld>
            <a:endParaRPr lang="ko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8E678A-36C4-A400-FCFC-B2FCB19E5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0BA20E-A054-9FEC-04E1-8C94EFB2B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5657-F329-E343-A0F5-CD8658A74D11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814748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7DB74E-94D7-A4F9-914A-42306A70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C36B5B-64D6-7C67-A067-7FE5944B98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FE7C76-1EC6-E4A6-602C-8A8C117812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2762282-398C-F495-9804-508141E99F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7909152-3761-24AF-50BB-EAEA03B242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1C8309E-43FC-878F-12F8-B5E26AC48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5F3A-F86D-3048-8012-4242B24F116F}" type="datetimeFigureOut">
              <a:rPr lang="ko-US" smtClean="0"/>
              <a:t>12/7/25</a:t>
            </a:fld>
            <a:endParaRPr lang="ko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B9F47D-4332-79D3-3D08-980FBC633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8CCC58C-BD86-7E45-5DC5-939DCEF12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5657-F329-E343-A0F5-CD8658A74D11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516726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192044-F872-3DF3-2FA4-A01294859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71A5310-004A-1086-B0FD-42D9F79F4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5F3A-F86D-3048-8012-4242B24F116F}" type="datetimeFigureOut">
              <a:rPr lang="ko-US" smtClean="0"/>
              <a:t>12/7/25</a:t>
            </a:fld>
            <a:endParaRPr lang="ko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F902BB4-C7E5-316B-D0E1-032C25270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8DC83E-7F87-B8BB-DB2D-5381669D2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5657-F329-E343-A0F5-CD8658A74D11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925248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D29D2E4-93FB-507D-8A3C-1890F5BB2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5F3A-F86D-3048-8012-4242B24F116F}" type="datetimeFigureOut">
              <a:rPr lang="ko-US" smtClean="0"/>
              <a:t>12/7/25</a:t>
            </a:fld>
            <a:endParaRPr lang="ko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2258031-4914-6739-0E2A-18D71DC4D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2C65CE-09C2-5377-DCD3-FD10DFDC8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5657-F329-E343-A0F5-CD8658A74D11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564254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53E90-D489-4D8D-5176-DED618F4F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77749D-6869-9B7C-F0D3-83FBA66BC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58B618A-FAB4-2E34-24DE-669BEB485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6901D9-4FCF-1479-FC37-E5F63B23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5F3A-F86D-3048-8012-4242B24F116F}" type="datetimeFigureOut">
              <a:rPr lang="ko-US" smtClean="0"/>
              <a:t>12/7/25</a:t>
            </a:fld>
            <a:endParaRPr lang="ko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9828FF6-5CE5-6618-36C3-CCD47FECE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33267-8D81-37CD-40FF-FB8EF553C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5657-F329-E343-A0F5-CD8658A74D11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2284727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D16041-3355-FA09-8AE1-B09613BDC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F98F802-3492-604D-574E-1B3E880A5C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7DD4121-E9B8-4090-8D33-15F16D1984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EF98799-3076-07AF-AB9B-A15F6F74F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5F3A-F86D-3048-8012-4242B24F116F}" type="datetimeFigureOut">
              <a:rPr lang="ko-US" smtClean="0"/>
              <a:t>12/7/25</a:t>
            </a:fld>
            <a:endParaRPr lang="ko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B2CE4D8-AB2D-4979-09E1-D9414261D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C548EEC-3257-C92A-F654-DC4D4567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5657-F329-E343-A0F5-CD8658A74D11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550968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4FED61-7E75-C4B9-C8C4-1BF30F609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BC82260-09F6-9D10-E324-8258D1D46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1C80B72-8083-0C34-3370-FD01A5573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5F3A-F86D-3048-8012-4242B24F116F}" type="datetimeFigureOut">
              <a:rPr lang="ko-US" smtClean="0"/>
              <a:t>12/7/25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F26012-07C9-0FD4-3722-869FC99C7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EFA33C-1777-DFCE-10B1-4CEBF6B4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5657-F329-E343-A0F5-CD8658A74D11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222100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7288343-F720-0C1D-FD8B-0DB8386F6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C4F5C82-7B48-3EA6-2694-D718743824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6CB98BE-26B4-2D21-DD53-397264569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A5F3A-F86D-3048-8012-4242B24F116F}" type="datetimeFigureOut">
              <a:rPr lang="ko-US" smtClean="0"/>
              <a:t>12/7/25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9C659D-2050-7F45-D8E3-83906419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3CB282-2978-D91A-D950-A2B14C0AA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55657-F329-E343-A0F5-CD8658A74D11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769229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6D471B6-4F9B-FFBA-6E46-8BB048502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A603FB-03B9-FC55-EE34-F477832A20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D4C5C9-A6E7-A60B-44A0-8727AEB812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A5F3A-F86D-3048-8012-4242B24F116F}" type="datetimeFigureOut">
              <a:rPr lang="ko-US" smtClean="0"/>
              <a:t>12/7/25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A8BB4D-2E52-3F10-23D8-714577F022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0D578B-14E2-7402-10ED-B2CF2D01E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C55657-F329-E343-A0F5-CD8658A74D11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85160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Qwen/Qwen2.5-0.5B-Instruct" TargetMode="External"/><Relationship Id="rId2" Type="http://schemas.openxmlformats.org/officeDocument/2006/relationships/hyperlink" Target="https://huggingface.co/deepset/roberta-large-squad2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datasets/rajpurkar/squad/viewer?views%5B%5D=trai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>
            <a:extLst>
              <a:ext uri="{FF2B5EF4-FFF2-40B4-BE49-F238E27FC236}">
                <a16:creationId xmlns:a16="http://schemas.microsoft.com/office/drawing/2014/main" id="{BC643400-0046-ACE1-9A3F-4A9AFBE21956}"/>
              </a:ext>
            </a:extLst>
          </p:cNvPr>
          <p:cNvSpPr/>
          <p:nvPr/>
        </p:nvSpPr>
        <p:spPr>
          <a:xfrm>
            <a:off x="793790" y="2337197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Reinforcement Learning 기반 LLM Q&amp;A 라우팅 환경 설계 및 A2C 실험</a:t>
            </a:r>
            <a:endParaRPr lang="en-US" sz="44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56E4A59-128E-CEC7-899A-F77B83583FFD}"/>
              </a:ext>
            </a:extLst>
          </p:cNvPr>
          <p:cNvSpPr/>
          <p:nvPr/>
        </p:nvSpPr>
        <p:spPr>
          <a:xfrm>
            <a:off x="793790" y="480369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컴퓨터공학과</a:t>
            </a:r>
            <a:r>
              <a:rPr lang="en-US" sz="1750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3학년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 err="1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팀명</a:t>
            </a:r>
            <a:r>
              <a:rPr lang="en-US" altLang="ko-KR" sz="1750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750" dirty="0" err="1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혼자에요</a:t>
            </a:r>
            <a:endParaRPr lang="en-US" sz="1750" dirty="0">
              <a:solidFill>
                <a:srgbClr val="272525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lnSpc>
                <a:spcPts val="2850"/>
              </a:lnSpc>
            </a:pPr>
            <a:r>
              <a:rPr lang="ko-KR" altLang="en-US" sz="1750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이름</a:t>
            </a:r>
            <a:r>
              <a:rPr lang="en-US" altLang="ko-KR" sz="1750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750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송태호</a:t>
            </a:r>
            <a:endParaRPr lang="en-US" sz="1750" dirty="0">
              <a:solidFill>
                <a:srgbClr val="272525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indent="0" algn="l">
              <a:lnSpc>
                <a:spcPts val="2850"/>
              </a:lnSpc>
              <a:buNone/>
            </a:pPr>
            <a:endParaRPr lang="en-US" sz="17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43302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>
            <a:extLst>
              <a:ext uri="{FF2B5EF4-FFF2-40B4-BE49-F238E27FC236}">
                <a16:creationId xmlns:a16="http://schemas.microsoft.com/office/drawing/2014/main" id="{4B4BAB87-6F6C-6B22-C81F-3DFC972272E5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실험 목적</a:t>
            </a:r>
            <a:endParaRPr lang="en-US" sz="3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2D55B128-D3FD-E794-7755-62C0AB955129}"/>
              </a:ext>
            </a:extLst>
          </p:cNvPr>
          <p:cNvSpPr/>
          <p:nvPr/>
        </p:nvSpPr>
        <p:spPr>
          <a:xfrm>
            <a:off x="957943" y="2231571"/>
            <a:ext cx="8677381" cy="105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F9122-9960-0DB5-8935-D4F1BD1AD850}"/>
              </a:ext>
            </a:extLst>
          </p:cNvPr>
          <p:cNvSpPr txBox="1"/>
          <p:nvPr/>
        </p:nvSpPr>
        <p:spPr>
          <a:xfrm>
            <a:off x="559340" y="1805326"/>
            <a:ext cx="1037655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이 실험의 목적은 </a:t>
            </a:r>
            <a:r>
              <a:rPr lang="ko-KR" altLang="en-US" b="1" dirty="0"/>
              <a:t>두 개의 </a:t>
            </a:r>
            <a:r>
              <a:rPr lang="en" b="1" dirty="0"/>
              <a:t>LLM(cheap LLM, strong LLM)</a:t>
            </a:r>
            <a:r>
              <a:rPr lang="en" dirty="0"/>
              <a:t> </a:t>
            </a:r>
            <a:r>
              <a:rPr lang="ko-KR" altLang="en-US" dirty="0"/>
              <a:t>을 준비해 놓고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주어진 질의마다 </a:t>
            </a:r>
            <a:r>
              <a:rPr lang="ko-KR" altLang="en-US" b="1" dirty="0"/>
              <a:t>어떤 모델을 쓰는 것이 더 이득인지</a:t>
            </a:r>
            <a:r>
              <a:rPr lang="ko-KR" altLang="en-US" dirty="0"/>
              <a:t> </a:t>
            </a:r>
            <a:r>
              <a:rPr lang="ko-KR" altLang="en-US" dirty="0" err="1"/>
              <a:t>를</a:t>
            </a:r>
            <a:r>
              <a:rPr lang="ko-KR" altLang="en-US" dirty="0"/>
              <a:t> 에이전트가 스스로 학습하도록 하는 것이다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여기서 </a:t>
            </a:r>
            <a:r>
              <a:rPr lang="en" i="1" dirty="0"/>
              <a:t>cheap LLM</a:t>
            </a:r>
            <a:r>
              <a:rPr lang="ko-KR" altLang="en-US" dirty="0"/>
              <a:t>은 </a:t>
            </a:r>
            <a:r>
              <a:rPr lang="ko-KR" altLang="en-US" b="1" dirty="0"/>
              <a:t>성능은 상대적으로 낮지만 사용 비용이 작은 모델</a:t>
            </a:r>
            <a:r>
              <a:rPr lang="ko-KR" altLang="en-US" dirty="0"/>
              <a:t>을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en" i="1" dirty="0"/>
              <a:t>strong LLM</a:t>
            </a:r>
            <a:r>
              <a:rPr lang="ko-KR" altLang="en-US" dirty="0"/>
              <a:t>은 </a:t>
            </a:r>
            <a:r>
              <a:rPr lang="ko-KR" altLang="en-US" b="1" dirty="0"/>
              <a:t>성능은 우수하지만 사용 비용이 큰 모델</a:t>
            </a:r>
            <a:r>
              <a:rPr lang="ko-KR" altLang="en-US" dirty="0"/>
              <a:t>을 의미한다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41406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9945136-1066-01C6-1646-A646BDDDDE36}"/>
              </a:ext>
            </a:extLst>
          </p:cNvPr>
          <p:cNvSpPr/>
          <p:nvPr/>
        </p:nvSpPr>
        <p:spPr>
          <a:xfrm>
            <a:off x="397011" y="335509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ko-KR" altLang="en-US" sz="3200" dirty="0">
                <a:solidFill>
                  <a:srgbClr val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실험 개요</a:t>
            </a:r>
            <a:endParaRPr lang="en-US" sz="32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344070F-53AB-BA9D-615E-E689D4C7B9E2}"/>
              </a:ext>
            </a:extLst>
          </p:cNvPr>
          <p:cNvSpPr/>
          <p:nvPr/>
        </p:nvSpPr>
        <p:spPr>
          <a:xfrm>
            <a:off x="1117436" y="2527554"/>
            <a:ext cx="838099" cy="66435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Task</a:t>
            </a:r>
            <a:endParaRPr lang="ko-US" sz="1600" dirty="0">
              <a:solidFill>
                <a:sysClr val="windowText" lastClr="000000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2A202E0-98C0-5A4F-92E1-D761D3E34AD0}"/>
              </a:ext>
            </a:extLst>
          </p:cNvPr>
          <p:cNvSpPr/>
          <p:nvPr/>
        </p:nvSpPr>
        <p:spPr>
          <a:xfrm>
            <a:off x="2353173" y="2604567"/>
            <a:ext cx="889579" cy="5103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Routing </a:t>
            </a:r>
          </a:p>
          <a:p>
            <a:pPr algn="ctr"/>
            <a:r>
              <a:rPr 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policy 1</a:t>
            </a:r>
            <a:endParaRPr lang="ko-US" sz="14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E97AFF0-2E09-4439-BD41-1925FD5D39CC}"/>
              </a:ext>
            </a:extLst>
          </p:cNvPr>
          <p:cNvSpPr/>
          <p:nvPr/>
        </p:nvSpPr>
        <p:spPr>
          <a:xfrm>
            <a:off x="4937255" y="1571006"/>
            <a:ext cx="842282" cy="63550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First Result</a:t>
            </a:r>
            <a:endParaRPr lang="ko-US" sz="1200" dirty="0">
              <a:solidFill>
                <a:sysClr val="windowText" lastClr="000000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36B8630-CBB5-8D7D-1342-75418D8CB17B}"/>
              </a:ext>
            </a:extLst>
          </p:cNvPr>
          <p:cNvSpPr/>
          <p:nvPr/>
        </p:nvSpPr>
        <p:spPr>
          <a:xfrm>
            <a:off x="3620162" y="3362513"/>
            <a:ext cx="889579" cy="5103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Strong</a:t>
            </a:r>
          </a:p>
          <a:p>
            <a:pPr algn="ctr"/>
            <a:r>
              <a:rPr 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model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B2AB4ED1-6454-98B4-C692-4CFC771EDF3F}"/>
              </a:ext>
            </a:extLst>
          </p:cNvPr>
          <p:cNvSpPr/>
          <p:nvPr/>
        </p:nvSpPr>
        <p:spPr>
          <a:xfrm>
            <a:off x="3620163" y="1633597"/>
            <a:ext cx="889579" cy="5103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Cheap</a:t>
            </a:r>
          </a:p>
          <a:p>
            <a:pPr algn="ctr"/>
            <a:r>
              <a:rPr 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model</a:t>
            </a:r>
            <a:endParaRPr lang="ko-US" sz="14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7CD25CF5-8351-AB47-C06A-07BA5E8FE169}"/>
              </a:ext>
            </a:extLst>
          </p:cNvPr>
          <p:cNvSpPr/>
          <p:nvPr/>
        </p:nvSpPr>
        <p:spPr>
          <a:xfrm>
            <a:off x="4937255" y="3316926"/>
            <a:ext cx="842282" cy="63550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First Result</a:t>
            </a:r>
            <a:endParaRPr lang="ko-US" sz="1200" dirty="0">
              <a:solidFill>
                <a:sysClr val="windowText" lastClr="000000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44F46CAF-56F1-7360-0EF1-5FE31B86C457}"/>
              </a:ext>
            </a:extLst>
          </p:cNvPr>
          <p:cNvSpPr/>
          <p:nvPr/>
        </p:nvSpPr>
        <p:spPr>
          <a:xfrm>
            <a:off x="6413544" y="1624853"/>
            <a:ext cx="889579" cy="51032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Routing </a:t>
            </a:r>
          </a:p>
          <a:p>
            <a:pPr algn="ctr"/>
            <a:r>
              <a:rPr 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policy 2</a:t>
            </a:r>
            <a:endParaRPr lang="ko-US" sz="14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714227D-9B5E-913A-6B0D-EBF5A0C651E1}"/>
              </a:ext>
            </a:extLst>
          </p:cNvPr>
          <p:cNvSpPr/>
          <p:nvPr/>
        </p:nvSpPr>
        <p:spPr>
          <a:xfrm>
            <a:off x="7680533" y="2724716"/>
            <a:ext cx="889579" cy="5103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Strong</a:t>
            </a:r>
          </a:p>
          <a:p>
            <a:pPr algn="ctr"/>
            <a:r>
              <a:rPr 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model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A3424B5E-1FD3-0798-F44F-DF34E5C73C2E}"/>
              </a:ext>
            </a:extLst>
          </p:cNvPr>
          <p:cNvSpPr/>
          <p:nvPr/>
        </p:nvSpPr>
        <p:spPr>
          <a:xfrm>
            <a:off x="7730635" y="1633597"/>
            <a:ext cx="889579" cy="510327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Cheap</a:t>
            </a:r>
          </a:p>
          <a:p>
            <a:pPr algn="ctr"/>
            <a:r>
              <a:rPr 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model</a:t>
            </a:r>
            <a:endParaRPr lang="ko-US" sz="14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F4FA3B4F-2884-F413-8675-0C6E72B8F528}"/>
              </a:ext>
            </a:extLst>
          </p:cNvPr>
          <p:cNvSpPr/>
          <p:nvPr/>
        </p:nvSpPr>
        <p:spPr>
          <a:xfrm>
            <a:off x="9047726" y="1562262"/>
            <a:ext cx="889580" cy="63550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Second Result</a:t>
            </a:r>
            <a:endParaRPr lang="ko-US" sz="1050" dirty="0">
              <a:solidFill>
                <a:sysClr val="windowText" lastClr="000000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EB18456F-77B8-3398-3DAD-913B8EE52B3B}"/>
              </a:ext>
            </a:extLst>
          </p:cNvPr>
          <p:cNvCxnSpPr>
            <a:stCxn id="7" idx="6"/>
            <a:endCxn id="18" idx="1"/>
          </p:cNvCxnSpPr>
          <p:nvPr/>
        </p:nvCxnSpPr>
        <p:spPr>
          <a:xfrm>
            <a:off x="1955535" y="2859731"/>
            <a:ext cx="3976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꺾인 연결선[E] 37">
            <a:extLst>
              <a:ext uri="{FF2B5EF4-FFF2-40B4-BE49-F238E27FC236}">
                <a16:creationId xmlns:a16="http://schemas.microsoft.com/office/drawing/2014/main" id="{B6A3012A-CCA8-B8DE-B265-C1AFF5EA5E41}"/>
              </a:ext>
            </a:extLst>
          </p:cNvPr>
          <p:cNvCxnSpPr>
            <a:stCxn id="18" idx="0"/>
            <a:endCxn id="24" idx="1"/>
          </p:cNvCxnSpPr>
          <p:nvPr/>
        </p:nvCxnSpPr>
        <p:spPr>
          <a:xfrm rot="5400000" flipH="1" flipV="1">
            <a:off x="2851160" y="1835564"/>
            <a:ext cx="715806" cy="82220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꺾인 연결선[E] 39">
            <a:extLst>
              <a:ext uri="{FF2B5EF4-FFF2-40B4-BE49-F238E27FC236}">
                <a16:creationId xmlns:a16="http://schemas.microsoft.com/office/drawing/2014/main" id="{92D001CE-3F72-8A6E-33E8-334981885A8E}"/>
              </a:ext>
            </a:extLst>
          </p:cNvPr>
          <p:cNvCxnSpPr>
            <a:stCxn id="18" idx="2"/>
            <a:endCxn id="23" idx="1"/>
          </p:cNvCxnSpPr>
          <p:nvPr/>
        </p:nvCxnSpPr>
        <p:spPr>
          <a:xfrm rot="16200000" flipH="1">
            <a:off x="2957671" y="2955185"/>
            <a:ext cx="502783" cy="8221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335030D5-028A-BFFD-816C-DE7B75A480C9}"/>
              </a:ext>
            </a:extLst>
          </p:cNvPr>
          <p:cNvCxnSpPr>
            <a:stCxn id="24" idx="3"/>
            <a:endCxn id="19" idx="2"/>
          </p:cNvCxnSpPr>
          <p:nvPr/>
        </p:nvCxnSpPr>
        <p:spPr>
          <a:xfrm flipV="1">
            <a:off x="4509742" y="1888760"/>
            <a:ext cx="42751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D69ACE13-5BDC-524E-4A78-D618DC331B0C}"/>
              </a:ext>
            </a:extLst>
          </p:cNvPr>
          <p:cNvCxnSpPr>
            <a:stCxn id="23" idx="3"/>
            <a:endCxn id="25" idx="2"/>
          </p:cNvCxnSpPr>
          <p:nvPr/>
        </p:nvCxnSpPr>
        <p:spPr>
          <a:xfrm>
            <a:off x="4509741" y="3617677"/>
            <a:ext cx="427514" cy="17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91054F2D-BE0F-3D88-25DA-95905E47A163}"/>
              </a:ext>
            </a:extLst>
          </p:cNvPr>
          <p:cNvCxnSpPr>
            <a:stCxn id="19" idx="6"/>
            <a:endCxn id="26" idx="1"/>
          </p:cNvCxnSpPr>
          <p:nvPr/>
        </p:nvCxnSpPr>
        <p:spPr>
          <a:xfrm flipV="1">
            <a:off x="5779537" y="1880017"/>
            <a:ext cx="634007" cy="87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[E] 49">
            <a:extLst>
              <a:ext uri="{FF2B5EF4-FFF2-40B4-BE49-F238E27FC236}">
                <a16:creationId xmlns:a16="http://schemas.microsoft.com/office/drawing/2014/main" id="{C36F5A9D-3F4F-DE52-44F5-78B4EE1EB170}"/>
              </a:ext>
            </a:extLst>
          </p:cNvPr>
          <p:cNvCxnSpPr>
            <a:stCxn id="26" idx="2"/>
            <a:endCxn id="27" idx="1"/>
          </p:cNvCxnSpPr>
          <p:nvPr/>
        </p:nvCxnSpPr>
        <p:spPr>
          <a:xfrm rot="16200000" flipH="1">
            <a:off x="6847083" y="2146430"/>
            <a:ext cx="844700" cy="82219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타원 50">
            <a:extLst>
              <a:ext uri="{FF2B5EF4-FFF2-40B4-BE49-F238E27FC236}">
                <a16:creationId xmlns:a16="http://schemas.microsoft.com/office/drawing/2014/main" id="{A5BDE1AE-2BCE-AB12-8A9C-E6BDD8EBE32A}"/>
              </a:ext>
            </a:extLst>
          </p:cNvPr>
          <p:cNvSpPr/>
          <p:nvPr/>
        </p:nvSpPr>
        <p:spPr>
          <a:xfrm>
            <a:off x="9117370" y="2637962"/>
            <a:ext cx="889580" cy="63550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ysClr val="windowText" lastClr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Second Result</a:t>
            </a:r>
            <a:endParaRPr lang="ko-US" sz="1050" dirty="0">
              <a:solidFill>
                <a:sysClr val="windowText" lastClr="000000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53" name="직선 화살표 연결선 52">
            <a:extLst>
              <a:ext uri="{FF2B5EF4-FFF2-40B4-BE49-F238E27FC236}">
                <a16:creationId xmlns:a16="http://schemas.microsoft.com/office/drawing/2014/main" id="{00778609-F0B1-D67D-AD53-0058FE7BBB43}"/>
              </a:ext>
            </a:extLst>
          </p:cNvPr>
          <p:cNvCxnSpPr>
            <a:stCxn id="28" idx="3"/>
            <a:endCxn id="29" idx="2"/>
          </p:cNvCxnSpPr>
          <p:nvPr/>
        </p:nvCxnSpPr>
        <p:spPr>
          <a:xfrm flipV="1">
            <a:off x="8620214" y="1880016"/>
            <a:ext cx="427512" cy="87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E152F5C3-4110-0E2B-3040-6126CB96DFAF}"/>
              </a:ext>
            </a:extLst>
          </p:cNvPr>
          <p:cNvCxnSpPr>
            <a:stCxn id="27" idx="3"/>
            <a:endCxn id="51" idx="2"/>
          </p:cNvCxnSpPr>
          <p:nvPr/>
        </p:nvCxnSpPr>
        <p:spPr>
          <a:xfrm flipV="1">
            <a:off x="8570112" y="2955716"/>
            <a:ext cx="547258" cy="241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8B1FE98-74C7-0ABB-704E-6CA3762A83AB}"/>
              </a:ext>
            </a:extLst>
          </p:cNvPr>
          <p:cNvSpPr txBox="1"/>
          <p:nvPr/>
        </p:nvSpPr>
        <p:spPr>
          <a:xfrm>
            <a:off x="397011" y="4301998"/>
            <a:ext cx="106571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그림은 하나의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QA Task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들어왔을 때 어떤 모델을 사용할지 결정하는  전체적인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Routing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flow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입니다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" dirty="0"/>
              <a:t>Task </a:t>
            </a:r>
            <a:r>
              <a:rPr lang="ko-KR" altLang="en-US" dirty="0"/>
              <a:t>수준에서 바로 </a:t>
            </a:r>
            <a:r>
              <a:rPr lang="en" dirty="0"/>
              <a:t>cheap/strong </a:t>
            </a:r>
            <a:r>
              <a:rPr lang="ko-KR" altLang="en-US" dirty="0"/>
              <a:t>모델을 선택할 수도 있고 </a:t>
            </a:r>
            <a:r>
              <a:rPr lang="en-US" altLang="ko-KR" dirty="0"/>
              <a:t>,</a:t>
            </a:r>
            <a:r>
              <a:rPr lang="ko-KR" altLang="en-US" dirty="0"/>
              <a:t>우선 </a:t>
            </a:r>
            <a:r>
              <a:rPr lang="en" dirty="0"/>
              <a:t>cheap model</a:t>
            </a:r>
            <a:r>
              <a:rPr lang="ko-KR" altLang="en-US" dirty="0"/>
              <a:t>로 </a:t>
            </a:r>
            <a:r>
              <a:rPr lang="en-US" altLang="ko-KR" dirty="0"/>
              <a:t>1</a:t>
            </a:r>
            <a:r>
              <a:rPr lang="ko-KR" altLang="en-US" dirty="0"/>
              <a:t>차 답변을 생성한 뒤</a:t>
            </a:r>
            <a:r>
              <a:rPr lang="en-US" altLang="ko-KR" dirty="0"/>
              <a:t>, </a:t>
            </a:r>
            <a:r>
              <a:rPr lang="ko-KR" altLang="en-US" dirty="0"/>
              <a:t>그 결과를 </a:t>
            </a:r>
            <a:r>
              <a:rPr lang="en" dirty="0"/>
              <a:t>Routing policy 2</a:t>
            </a:r>
            <a:r>
              <a:rPr lang="ko-KR" altLang="en-US" dirty="0"/>
              <a:t>가 다시 평가하여 그대로 사용할지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cheap model</a:t>
            </a:r>
            <a:r>
              <a:rPr lang="ko-KR" altLang="en-US" dirty="0"/>
              <a:t>에서 재시도 할지</a:t>
            </a:r>
            <a:r>
              <a:rPr lang="en-US" altLang="ko-KR" dirty="0"/>
              <a:t>,</a:t>
            </a:r>
            <a:r>
              <a:rPr lang="ko-KR" altLang="en-US" dirty="0"/>
              <a:t> 아니면 </a:t>
            </a:r>
            <a:r>
              <a:rPr lang="en-US" altLang="ko-KR" dirty="0"/>
              <a:t>strong</a:t>
            </a:r>
            <a:r>
              <a:rPr lang="ko-KR" altLang="en-US" dirty="0"/>
              <a:t> </a:t>
            </a:r>
            <a:r>
              <a:rPr lang="en-US" altLang="ko-KR" dirty="0"/>
              <a:t>model</a:t>
            </a:r>
            <a:r>
              <a:rPr lang="ko-KR" altLang="en-US" dirty="0"/>
              <a:t>을 이용할지 결정할 수도 있습니다</a:t>
            </a:r>
            <a:r>
              <a:rPr lang="en-US" altLang="ko-KR" dirty="0"/>
              <a:t>.</a:t>
            </a:r>
          </a:p>
          <a:p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이번 실험에서는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Routing policy2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쪽에 초점을 두고 진행합니다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모든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task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일단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cheap model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통해서 결과가 생성된다고 생각하고 진행합니다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F193859D-ACBC-20FE-E107-DE45D7D8F9D0}"/>
              </a:ext>
            </a:extLst>
          </p:cNvPr>
          <p:cNvCxnSpPr>
            <a:stCxn id="26" idx="3"/>
            <a:endCxn id="28" idx="1"/>
          </p:cNvCxnSpPr>
          <p:nvPr/>
        </p:nvCxnSpPr>
        <p:spPr>
          <a:xfrm>
            <a:off x="7303123" y="1880017"/>
            <a:ext cx="427512" cy="87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타원 77">
            <a:extLst>
              <a:ext uri="{FF2B5EF4-FFF2-40B4-BE49-F238E27FC236}">
                <a16:creationId xmlns:a16="http://schemas.microsoft.com/office/drawing/2014/main" id="{9B8A8532-1A8B-01A0-C8A5-EE8D9472ED8D}"/>
              </a:ext>
            </a:extLst>
          </p:cNvPr>
          <p:cNvSpPr/>
          <p:nvPr/>
        </p:nvSpPr>
        <p:spPr>
          <a:xfrm>
            <a:off x="9047726" y="663944"/>
            <a:ext cx="842282" cy="63550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ysClr val="windowText" lastClr="000000"/>
                </a:solidFill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First Result</a:t>
            </a:r>
            <a:endParaRPr lang="ko-US" sz="1200" dirty="0">
              <a:solidFill>
                <a:sysClr val="windowText" lastClr="000000"/>
              </a:solidFill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  <p:cxnSp>
        <p:nvCxnSpPr>
          <p:cNvPr id="80" name="꺾인 연결선[E] 79">
            <a:extLst>
              <a:ext uri="{FF2B5EF4-FFF2-40B4-BE49-F238E27FC236}">
                <a16:creationId xmlns:a16="http://schemas.microsoft.com/office/drawing/2014/main" id="{1DDD895C-6006-5C17-984A-3C7CC462D3CD}"/>
              </a:ext>
            </a:extLst>
          </p:cNvPr>
          <p:cNvCxnSpPr>
            <a:stCxn id="26" idx="0"/>
            <a:endCxn id="78" idx="2"/>
          </p:cNvCxnSpPr>
          <p:nvPr/>
        </p:nvCxnSpPr>
        <p:spPr>
          <a:xfrm rot="5400000" flipH="1" flipV="1">
            <a:off x="7631453" y="208580"/>
            <a:ext cx="643155" cy="2189392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B1C557F-02A7-7E49-CADE-C1F64CE30AEB}"/>
              </a:ext>
            </a:extLst>
          </p:cNvPr>
          <p:cNvSpPr/>
          <p:nvPr/>
        </p:nvSpPr>
        <p:spPr>
          <a:xfrm>
            <a:off x="3461657" y="489857"/>
            <a:ext cx="6738257" cy="2783613"/>
          </a:xfrm>
          <a:prstGeom prst="rect">
            <a:avLst/>
          </a:prstGeom>
          <a:noFill/>
          <a:ln w="5715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21276696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B8072-C9A5-42AC-4013-82AE2A072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31BE7C-677F-B71D-4201-B480A9D9E5F9}"/>
              </a:ext>
            </a:extLst>
          </p:cNvPr>
          <p:cNvSpPr txBox="1"/>
          <p:nvPr/>
        </p:nvSpPr>
        <p:spPr>
          <a:xfrm>
            <a:off x="1018572" y="2921168"/>
            <a:ext cx="34029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Setting</a:t>
            </a:r>
            <a:endParaRPr lang="ko-US" sz="6000" dirty="0"/>
          </a:p>
        </p:txBody>
      </p:sp>
    </p:spTree>
    <p:extLst>
      <p:ext uri="{BB962C8B-B14F-4D97-AF65-F5344CB8AC3E}">
        <p14:creationId xmlns:p14="http://schemas.microsoft.com/office/powerpoint/2010/main" val="3372696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56DA0-728D-8513-C18E-131FA1F57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712DB6B-FE24-FE1C-B0A9-7F64E71D75BA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Setting 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959C2-F94C-E9BD-72F6-C55FE210ACE4}"/>
              </a:ext>
            </a:extLst>
          </p:cNvPr>
          <p:cNvSpPr txBox="1"/>
          <p:nvPr/>
        </p:nvSpPr>
        <p:spPr>
          <a:xfrm>
            <a:off x="594000" y="1342663"/>
            <a:ext cx="10471397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 err="1"/>
              <a:t>작업</a:t>
            </a:r>
            <a:r>
              <a:rPr lang="en-US" b="1" dirty="0"/>
              <a:t> </a:t>
            </a:r>
            <a:r>
              <a:rPr lang="en-US" b="1" dirty="0" err="1"/>
              <a:t>환경</a:t>
            </a:r>
            <a:r>
              <a:rPr lang="en-US" altLang="ko-KR" dirty="0"/>
              <a:t>: google </a:t>
            </a:r>
            <a:r>
              <a:rPr lang="en-US" altLang="ko-KR" dirty="0" err="1"/>
              <a:t>colab</a:t>
            </a:r>
            <a:r>
              <a:rPr lang="en-US" altLang="ko-KR" dirty="0"/>
              <a:t> (pro), </a:t>
            </a:r>
            <a:r>
              <a:rPr lang="en-US" dirty="0"/>
              <a:t>GPU : </a:t>
            </a:r>
            <a:r>
              <a:rPr lang="en-US" dirty="0" err="1"/>
              <a:t>colab의</a:t>
            </a:r>
            <a:r>
              <a:rPr lang="en-US" dirty="0"/>
              <a:t> T4 , L4 </a:t>
            </a:r>
            <a:r>
              <a:rPr lang="en-US" dirty="0" err="1"/>
              <a:t>gpu</a:t>
            </a:r>
            <a:r>
              <a:rPr lang="en-US" dirty="0"/>
              <a:t> </a:t>
            </a:r>
            <a:r>
              <a:rPr lang="en-US" dirty="0" err="1"/>
              <a:t>사용</a:t>
            </a:r>
            <a:endParaRPr lang="en-US" dirty="0"/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/>
              <a:t>실행</a:t>
            </a:r>
            <a:r>
              <a:rPr lang="en-US" b="1" dirty="0"/>
              <a:t> </a:t>
            </a:r>
            <a:r>
              <a:rPr lang="en-US" b="1" dirty="0" err="1"/>
              <a:t>방법</a:t>
            </a:r>
            <a:endParaRPr lang="en-US" b="1" dirty="0"/>
          </a:p>
          <a:p>
            <a:pPr marL="742950" lvl="1" indent="-285750">
              <a:buFontTx/>
              <a:buChar char="-"/>
            </a:pPr>
            <a:r>
              <a:rPr lang="en-US" altLang="ko-KR" dirty="0"/>
              <a:t>1) google drive mount:</a:t>
            </a:r>
          </a:p>
          <a:p>
            <a:pPr lvl="2"/>
            <a:r>
              <a:rPr lang="en-US" altLang="ko-KR" dirty="0"/>
              <a:t> (1)  [</a:t>
            </a:r>
            <a:r>
              <a:rPr lang="en-US" altLang="ko-KR" dirty="0" err="1"/>
              <a:t>training.ipynb</a:t>
            </a:r>
            <a:r>
              <a:rPr lang="en-US" altLang="ko-KR" dirty="0"/>
              <a:t>] </a:t>
            </a:r>
            <a:r>
              <a:rPr lang="ko-KR" altLang="en-US" dirty="0"/>
              <a:t>접속 </a:t>
            </a:r>
            <a:r>
              <a:rPr lang="en-US" altLang="ko-KR" dirty="0"/>
              <a:t> </a:t>
            </a:r>
          </a:p>
          <a:p>
            <a:pPr lvl="2"/>
            <a:r>
              <a:rPr lang="en-US" altLang="ko-KR" dirty="0"/>
              <a:t> (2) directory path : drive</a:t>
            </a:r>
            <a:r>
              <a:rPr lang="ko-KR" altLang="en-US" dirty="0"/>
              <a:t>에서 </a:t>
            </a:r>
            <a:r>
              <a:rPr lang="en-US" altLang="ko-KR" dirty="0"/>
              <a:t>[</a:t>
            </a:r>
            <a:r>
              <a:rPr lang="en-US" altLang="ko-KR" dirty="0" err="1"/>
              <a:t>training.ipynb</a:t>
            </a:r>
            <a:r>
              <a:rPr lang="en-US" altLang="ko-KR" dirty="0"/>
              <a:t>] </a:t>
            </a:r>
            <a:r>
              <a:rPr lang="ko-KR" altLang="en-US" dirty="0"/>
              <a:t>있는 폴더 경로</a:t>
            </a:r>
            <a:endParaRPr lang="en-US" altLang="ko-KR" dirty="0"/>
          </a:p>
          <a:p>
            <a:pPr lvl="2"/>
            <a:r>
              <a:rPr lang="en-US" altLang="ko-KR" dirty="0"/>
              <a:t> (3) </a:t>
            </a:r>
            <a:r>
              <a:rPr lang="ko-KR" altLang="en-US" dirty="0"/>
              <a:t>나머지 실행 </a:t>
            </a:r>
            <a:endParaRPr lang="en-US" altLang="ko-KR" dirty="0"/>
          </a:p>
          <a:p>
            <a:pPr lvl="2"/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en-US" dirty="0"/>
              <a:t>2) </a:t>
            </a:r>
            <a:r>
              <a:rPr lang="en-US" dirty="0" err="1"/>
              <a:t>colab에서</a:t>
            </a:r>
            <a:r>
              <a:rPr lang="en-US" dirty="0"/>
              <a:t> </a:t>
            </a:r>
            <a:r>
              <a:rPr lang="en-US" dirty="0" err="1"/>
              <a:t>그냥</a:t>
            </a:r>
            <a:r>
              <a:rPr lang="en-US" dirty="0"/>
              <a:t> </a:t>
            </a:r>
            <a:r>
              <a:rPr lang="en-US" dirty="0" err="1"/>
              <a:t>실행</a:t>
            </a:r>
            <a:endParaRPr lang="en-US" dirty="0"/>
          </a:p>
          <a:p>
            <a:pPr marL="1200150" lvl="2" indent="-285750">
              <a:buFontTx/>
              <a:buChar char="-"/>
            </a:pPr>
            <a:r>
              <a:rPr lang="en-US" altLang="ko-KR" dirty="0"/>
              <a:t>(1) drive </a:t>
            </a:r>
            <a:r>
              <a:rPr lang="ko-KR" altLang="en-US" dirty="0"/>
              <a:t>연결 </a:t>
            </a:r>
            <a:r>
              <a:rPr lang="ko-KR" altLang="en-US" dirty="0" err="1"/>
              <a:t>안하면</a:t>
            </a:r>
            <a:r>
              <a:rPr lang="en-US" altLang="ko-KR" dirty="0"/>
              <a:t>, [</a:t>
            </a:r>
            <a:r>
              <a:rPr lang="en-US" altLang="ko-KR" dirty="0" err="1"/>
              <a:t>training.ipynb</a:t>
            </a:r>
            <a:r>
              <a:rPr lang="en-US" altLang="ko-KR" dirty="0"/>
              <a:t>] </a:t>
            </a:r>
            <a:r>
              <a:rPr lang="ko-KR" altLang="en-US" dirty="0"/>
              <a:t>와 같은 폴더에 존재하는 모든 파일을 </a:t>
            </a:r>
            <a:r>
              <a:rPr lang="en-US" altLang="ko-KR" dirty="0" err="1"/>
              <a:t>colab</a:t>
            </a:r>
            <a:r>
              <a:rPr lang="en-US" altLang="ko-KR" dirty="0"/>
              <a:t> session</a:t>
            </a:r>
            <a:r>
              <a:rPr lang="ko-KR" altLang="en-US" dirty="0" err="1"/>
              <a:t>에</a:t>
            </a:r>
            <a:r>
              <a:rPr lang="ko-KR" altLang="en-US" dirty="0"/>
              <a:t> </a:t>
            </a:r>
            <a:r>
              <a:rPr lang="en-US" altLang="ko-KR" dirty="0"/>
              <a:t>drag and drop</a:t>
            </a:r>
          </a:p>
          <a:p>
            <a:pPr lvl="2"/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b="1" dirty="0"/>
              <a:t>명령어 </a:t>
            </a:r>
            <a:endParaRPr lang="en-US" altLang="ko-KR" b="1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기존 명령어 실행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r>
              <a:rPr lang="ko-KR" altLang="en-US" dirty="0"/>
              <a:t>학습</a:t>
            </a:r>
            <a:r>
              <a:rPr lang="en-US" altLang="ko-KR" dirty="0"/>
              <a:t>:  !python train_a2c.py --&lt;hyper parameter&gt; &lt;</a:t>
            </a:r>
            <a:r>
              <a:rPr lang="ko-KR" altLang="en-US" dirty="0"/>
              <a:t>값</a:t>
            </a:r>
            <a:r>
              <a:rPr lang="en-US" altLang="ko-KR" dirty="0"/>
              <a:t>&gt; (hyper parameter </a:t>
            </a:r>
            <a:r>
              <a:rPr lang="ko-KR" altLang="en-US" dirty="0"/>
              <a:t>이름은 이후에 정리</a:t>
            </a:r>
            <a:r>
              <a:rPr lang="en-US" altLang="ko-KR" dirty="0"/>
              <a:t>)</a:t>
            </a:r>
          </a:p>
          <a:p>
            <a:pPr marL="1200150" lvl="2" indent="-285750">
              <a:buFontTx/>
              <a:buChar char="-"/>
            </a:pPr>
            <a:r>
              <a:rPr lang="ko-KR" altLang="en-US" dirty="0"/>
              <a:t>이 때 </a:t>
            </a:r>
            <a:r>
              <a:rPr lang="en-US" altLang="ko-KR" dirty="0" err="1"/>
              <a:t>num_episodes</a:t>
            </a:r>
            <a:r>
              <a:rPr lang="ko-KR" altLang="en-US" dirty="0" err="1"/>
              <a:t>를</a:t>
            </a:r>
            <a:r>
              <a:rPr lang="ko-KR" altLang="en-US" dirty="0"/>
              <a:t> 변경할 때</a:t>
            </a:r>
            <a:r>
              <a:rPr lang="en-US" altLang="ko-KR" dirty="0"/>
              <a:t>, [</a:t>
            </a:r>
          </a:p>
          <a:p>
            <a:pPr marL="742950" lvl="1" indent="-285750">
              <a:buFontTx/>
              <a:buChar char="-"/>
            </a:pPr>
            <a:r>
              <a:rPr lang="ko-KR" altLang="en-US" dirty="0"/>
              <a:t>평가</a:t>
            </a:r>
            <a:r>
              <a:rPr lang="en-US" altLang="ko-KR" dirty="0"/>
              <a:t>: !python </a:t>
            </a:r>
            <a:r>
              <a:rPr lang="en-US" altLang="ko-KR" dirty="0" err="1"/>
              <a:t>evaluate_models.py</a:t>
            </a:r>
            <a:r>
              <a:rPr lang="en-US" altLang="ko-KR" dirty="0"/>
              <a:t> </a:t>
            </a:r>
          </a:p>
          <a:p>
            <a:pPr marL="742950" lvl="1" indent="-285750">
              <a:buFontTx/>
              <a:buChar char="-"/>
            </a:pP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409983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4DD9440-3C36-E9C3-49B9-BF4A2CA57288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Setting 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9EC656-5388-99CE-E6AF-E2FE7EA44CB2}"/>
              </a:ext>
            </a:extLst>
          </p:cNvPr>
          <p:cNvSpPr txBox="1"/>
          <p:nvPr/>
        </p:nvSpPr>
        <p:spPr>
          <a:xfrm>
            <a:off x="627529" y="1645476"/>
            <a:ext cx="53788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Dataset : </a:t>
            </a:r>
            <a:r>
              <a:rPr lang="en-US" dirty="0"/>
              <a:t> </a:t>
            </a:r>
          </a:p>
          <a:p>
            <a:r>
              <a:rPr lang="en-US" dirty="0"/>
              <a:t>	QA dataset:  </a:t>
            </a:r>
            <a:r>
              <a:rPr lang="en-US" dirty="0" err="1"/>
              <a:t>SQuAD</a:t>
            </a:r>
            <a:r>
              <a:rPr lang="en-US" dirty="0"/>
              <a:t> 1.0</a:t>
            </a:r>
          </a:p>
          <a:p>
            <a:endParaRPr lang="en-US" dirty="0"/>
          </a:p>
          <a:p>
            <a:r>
              <a:rPr lang="en-US" b="1" dirty="0"/>
              <a:t>LLM model </a:t>
            </a:r>
            <a:r>
              <a:rPr lang="en-US" dirty="0"/>
              <a:t>( in hugging face)</a:t>
            </a:r>
            <a:r>
              <a:rPr lang="en-US" b="1" dirty="0"/>
              <a:t>:</a:t>
            </a:r>
          </a:p>
          <a:p>
            <a:endParaRPr lang="en-US" b="1" dirty="0"/>
          </a:p>
          <a:p>
            <a:r>
              <a:rPr lang="en-US" dirty="0"/>
              <a:t>	Cheap LLM:  </a:t>
            </a:r>
            <a:r>
              <a:rPr lang="en" dirty="0"/>
              <a:t>Qwen/Qwen2.5-0.5B-Instruct</a:t>
            </a:r>
          </a:p>
          <a:p>
            <a:endParaRPr lang="en-US" dirty="0"/>
          </a:p>
          <a:p>
            <a:r>
              <a:rPr lang="en-US" dirty="0"/>
              <a:t>	Strong LLM: </a:t>
            </a:r>
            <a:r>
              <a:rPr lang="en" dirty="0" err="1"/>
              <a:t>deepset</a:t>
            </a:r>
            <a:r>
              <a:rPr lang="en" dirty="0"/>
              <a:t>/roberta-large-squad2</a:t>
            </a:r>
          </a:p>
          <a:p>
            <a:endParaRPr lang="en-US" dirty="0"/>
          </a:p>
          <a:p>
            <a:r>
              <a:rPr lang="en-US" b="1" dirty="0"/>
              <a:t>Baseline workload:</a:t>
            </a:r>
          </a:p>
          <a:p>
            <a:r>
              <a:rPr lang="en-US" b="1" dirty="0"/>
              <a:t>	</a:t>
            </a:r>
          </a:p>
          <a:p>
            <a:r>
              <a:rPr lang="en-US" dirty="0"/>
              <a:t>	Always cheap, Always strong, Random</a:t>
            </a:r>
            <a:endParaRPr lang="ko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0DD9A4-71FE-C7C2-82A7-8E5E1EE60F62}"/>
              </a:ext>
            </a:extLst>
          </p:cNvPr>
          <p:cNvSpPr txBox="1"/>
          <p:nvPr/>
        </p:nvSpPr>
        <p:spPr>
          <a:xfrm>
            <a:off x="0" y="5934670"/>
            <a:ext cx="555055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Model </a:t>
            </a:r>
            <a:r>
              <a:rPr lang="ko-KR" altLang="en-US" dirty="0"/>
              <a:t>출처</a:t>
            </a:r>
            <a:endParaRPr lang="en-US" altLang="ko-KR" dirty="0"/>
          </a:p>
          <a:p>
            <a:r>
              <a:rPr lang="ko-KR" altLang="en-US" dirty="0"/>
              <a:t> </a:t>
            </a:r>
            <a:r>
              <a:rPr lang="en" altLang="ko-KR" dirty="0">
                <a:hlinkClick r:id="rId2"/>
              </a:rPr>
              <a:t>https://huggingface.co/deepset/roberta-large-squad2</a:t>
            </a:r>
            <a:endParaRPr lang="en" altLang="ko-KR" dirty="0"/>
          </a:p>
          <a:p>
            <a:r>
              <a:rPr lang="en" dirty="0">
                <a:hlinkClick r:id="rId3"/>
              </a:rPr>
              <a:t>https://huggingface.co/Qwen/Qwen2.5-0.5B-Instruct</a:t>
            </a:r>
            <a:endParaRPr lang="e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91EB85-2322-5B8D-71FB-3EC0C9915968}"/>
              </a:ext>
            </a:extLst>
          </p:cNvPr>
          <p:cNvSpPr txBox="1"/>
          <p:nvPr/>
        </p:nvSpPr>
        <p:spPr>
          <a:xfrm>
            <a:off x="6711575" y="3019425"/>
            <a:ext cx="5378824" cy="2548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=&gt;</a:t>
            </a:r>
            <a:r>
              <a:rPr lang="ko-KR" altLang="en-US" b="1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모델 선정 배경</a:t>
            </a:r>
            <a:r>
              <a:rPr lang="en-US" altLang="ko-KR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:</a:t>
            </a:r>
          </a:p>
          <a:p>
            <a:endParaRPr lang="en-US" altLang="ko-KR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기본적으로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model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이 얼마나 좋은 대답을 하였나는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f1 score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바탕으로 결정하는데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squad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dataset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목적으로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fine tune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된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 f1 score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 높게 측정되는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strong model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은 많은데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f1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score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가 낮게 측정되는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cheap model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을 찾기 어려워서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,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endParaRPr lang="en-US" altLang="ko-KR" sz="14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생성형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model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인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Qwen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의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prompt</a:t>
            </a:r>
            <a:r>
              <a:rPr lang="ko-KR" altLang="en-US" sz="14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를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수정해서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QA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task</a:t>
            </a:r>
            <a:r>
              <a:rPr lang="ko-KR" altLang="en-US" sz="1400" dirty="0" err="1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를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처리하게 해서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cheap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 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model </a:t>
            </a:r>
            <a:r>
              <a:rPr lang="ko-KR" altLang="en-US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의 성능으로 만들었다</a:t>
            </a:r>
            <a:r>
              <a:rPr lang="en-US" altLang="ko-KR" sz="1400" dirty="0">
                <a:latin typeface="Pretendard Medium" panose="02000503000000020004" pitchFamily="2" charset="-127"/>
                <a:ea typeface="Pretendard Medium" panose="02000503000000020004" pitchFamily="2" charset="-127"/>
                <a:cs typeface="Pretendard Medium" panose="02000503000000020004" pitchFamily="2" charset="-127"/>
              </a:rPr>
              <a:t>.</a:t>
            </a:r>
            <a:endParaRPr lang="ko-US" sz="1400" dirty="0">
              <a:latin typeface="Pretendard Medium" panose="02000503000000020004" pitchFamily="2" charset="-127"/>
              <a:ea typeface="Pretendard Medium" panose="02000503000000020004" pitchFamily="2" charset="-127"/>
              <a:cs typeface="Pretendard Medium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5668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04C4D-9D44-DFC1-833E-EC22F1EAC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214C25-FA87-BBF0-D1A4-9686F8AC1EFE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Setting 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(Evaluation metric)</a:t>
            </a: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B9D19-BC86-A9BB-649B-728F78E53C69}"/>
              </a:ext>
            </a:extLst>
          </p:cNvPr>
          <p:cNvSpPr txBox="1"/>
          <p:nvPr/>
        </p:nvSpPr>
        <p:spPr>
          <a:xfrm>
            <a:off x="648182" y="1932972"/>
            <a:ext cx="41793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Evaluation metric</a:t>
            </a:r>
            <a:r>
              <a:rPr lang="en-US" dirty="0"/>
              <a:t>: F1 score </a:t>
            </a:r>
            <a:r>
              <a:rPr lang="en-US" altLang="ko-KR" dirty="0"/>
              <a:t>(char level) </a:t>
            </a:r>
            <a:endParaRPr lang="en-US" dirty="0"/>
          </a:p>
          <a:p>
            <a:endParaRPr lang="ko-US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E39CF3F-79A6-A1CB-B08D-DF9E19666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00" y="2579302"/>
            <a:ext cx="4179349" cy="35992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41FA25-E2DA-0D9B-3075-014B159030D5}"/>
              </a:ext>
            </a:extLst>
          </p:cNvPr>
          <p:cNvSpPr txBox="1"/>
          <p:nvPr/>
        </p:nvSpPr>
        <p:spPr>
          <a:xfrm>
            <a:off x="5602147" y="2199190"/>
            <a:ext cx="533902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dirty="0" err="1"/>
              <a:t>SQuAD</a:t>
            </a:r>
            <a:r>
              <a:rPr lang="ko-KR" altLang="en-US" dirty="0"/>
              <a:t>에서 사용하는 표준 지표</a:t>
            </a:r>
            <a:endParaRPr lang="en-US" altLang="ko-KR" dirty="0"/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0~1</a:t>
            </a:r>
            <a:r>
              <a:rPr lang="ko-KR" altLang="en-US" dirty="0"/>
              <a:t> 사이 연속적인 값이라 </a:t>
            </a:r>
            <a:r>
              <a:rPr lang="en-US" altLang="ko-KR" dirty="0"/>
              <a:t>reward </a:t>
            </a:r>
            <a:r>
              <a:rPr lang="ko-KR" altLang="en-US" dirty="0"/>
              <a:t>반영하기 좋다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ko-US" dirty="0"/>
              <a:t>짧은 정답과 긴 정답을 공정하게 평가 가능하다</a:t>
            </a:r>
            <a:r>
              <a:rPr lang="en-US" altLang="ko-KR" dirty="0"/>
              <a:t>.</a:t>
            </a:r>
            <a:endParaRPr lang="ko-US" dirty="0"/>
          </a:p>
        </p:txBody>
      </p:sp>
    </p:spTree>
    <p:extLst>
      <p:ext uri="{BB962C8B-B14F-4D97-AF65-F5344CB8AC3E}">
        <p14:creationId xmlns:p14="http://schemas.microsoft.com/office/powerpoint/2010/main" val="69401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7CB5D-DD35-645D-66FF-AFD52BA0C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968CB3-9B00-97DD-44AE-C06C9A6CE50F}"/>
              </a:ext>
            </a:extLst>
          </p:cNvPr>
          <p:cNvSpPr txBox="1"/>
          <p:nvPr/>
        </p:nvSpPr>
        <p:spPr>
          <a:xfrm>
            <a:off x="1018572" y="2921168"/>
            <a:ext cx="34029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RL</a:t>
            </a:r>
            <a:endParaRPr lang="ko-US" sz="6000" dirty="0"/>
          </a:p>
        </p:txBody>
      </p:sp>
    </p:spTree>
    <p:extLst>
      <p:ext uri="{BB962C8B-B14F-4D97-AF65-F5344CB8AC3E}">
        <p14:creationId xmlns:p14="http://schemas.microsoft.com/office/powerpoint/2010/main" val="3794054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8209A37-841D-3791-B725-7FC865FDC974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RL</a:t>
            </a:r>
            <a:r>
              <a:rPr lang="ko-KR" alt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Task</a:t>
            </a: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C92438-53BD-7D7A-AB2F-0B55B211A1D6}"/>
              </a:ext>
            </a:extLst>
          </p:cNvPr>
          <p:cNvSpPr txBox="1"/>
          <p:nvPr/>
        </p:nvSpPr>
        <p:spPr>
          <a:xfrm>
            <a:off x="654946" y="3244334"/>
            <a:ext cx="88163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QA task: </a:t>
            </a:r>
            <a:r>
              <a:rPr lang="en-US" dirty="0"/>
              <a:t>train data</a:t>
            </a:r>
            <a:r>
              <a:rPr lang="ko-KR" altLang="en-US" dirty="0"/>
              <a:t>에서 </a:t>
            </a:r>
            <a:r>
              <a:rPr lang="en-US" altLang="ko-KR" dirty="0"/>
              <a:t>context, question</a:t>
            </a:r>
            <a:r>
              <a:rPr lang="ko-KR" altLang="en-US" dirty="0"/>
              <a:t> 을 보고 </a:t>
            </a:r>
            <a:r>
              <a:rPr lang="en-US" altLang="ko-KR" dirty="0"/>
              <a:t>context</a:t>
            </a:r>
            <a:r>
              <a:rPr lang="ko-KR" altLang="en-US" dirty="0"/>
              <a:t>내에서 </a:t>
            </a:r>
            <a:r>
              <a:rPr lang="en-US" altLang="ko-KR" dirty="0"/>
              <a:t>answer</a:t>
            </a:r>
            <a:r>
              <a:rPr lang="ko-KR" altLang="en-US" dirty="0" err="1"/>
              <a:t>를</a:t>
            </a:r>
            <a:r>
              <a:rPr lang="ko-KR" altLang="en-US" dirty="0"/>
              <a:t> 찾는 방식</a:t>
            </a:r>
            <a:endParaRPr lang="en-US" altLang="ko-KR" dirty="0"/>
          </a:p>
          <a:p>
            <a:endParaRPr lang="en-US" b="1" dirty="0"/>
          </a:p>
          <a:p>
            <a:r>
              <a:rPr lang="en-US" b="1" dirty="0"/>
              <a:t>Episode:  </a:t>
            </a:r>
            <a:r>
              <a:rPr lang="en-US" dirty="0"/>
              <a:t>Dataset </a:t>
            </a:r>
            <a:r>
              <a:rPr lang="ko-KR" altLang="en-US" dirty="0"/>
              <a:t>에서 문제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episode 1</a:t>
            </a:r>
            <a:r>
              <a:rPr lang="ko-KR" altLang="en-US" dirty="0"/>
              <a:t>개</a:t>
            </a:r>
            <a:r>
              <a:rPr lang="en-US" dirty="0"/>
              <a:t> </a:t>
            </a:r>
            <a:endParaRPr lang="ko-US" dirty="0"/>
          </a:p>
        </p:txBody>
      </p:sp>
      <p:pic>
        <p:nvPicPr>
          <p:cNvPr id="6" name="그림 5" descr="텍스트, 폰트, 영수증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20FA956-BC5C-BC76-7728-53F392B49E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46" y="1433443"/>
            <a:ext cx="7772400" cy="128383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E155A82-6DB5-2228-D2D9-9D36550FC16D}"/>
              </a:ext>
            </a:extLst>
          </p:cNvPr>
          <p:cNvSpPr txBox="1"/>
          <p:nvPr/>
        </p:nvSpPr>
        <p:spPr>
          <a:xfrm>
            <a:off x="407897" y="6488668"/>
            <a:ext cx="84984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출처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" altLang="ko-KR" dirty="0">
                <a:hlinkClick r:id="rId3"/>
              </a:rPr>
              <a:t>https://huggingface.co/datasets/rajpurkar/squad/viewer?views%5B%5D=train</a:t>
            </a:r>
            <a:endParaRPr lang="en" altLang="ko-KR" dirty="0"/>
          </a:p>
          <a:p>
            <a:endParaRPr lang="ko-US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8F08B286-125B-F26F-964A-A8EBAE9197BA}"/>
              </a:ext>
            </a:extLst>
          </p:cNvPr>
          <p:cNvSpPr/>
          <p:nvPr/>
        </p:nvSpPr>
        <p:spPr>
          <a:xfrm>
            <a:off x="724417" y="4373474"/>
            <a:ext cx="8677381" cy="1051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altLang="ko-KR" b="1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Our task:</a:t>
            </a:r>
            <a:r>
              <a:rPr lang="ko-KR" altLang="en-US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dirty="0" err="1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질문</a:t>
            </a:r>
            <a:r>
              <a:rPr lang="en-US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/상황에 </a:t>
            </a:r>
            <a:r>
              <a:rPr lang="en-US" dirty="0" err="1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따라</a:t>
            </a:r>
            <a:r>
              <a:rPr lang="en-US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Answer</a:t>
            </a:r>
            <a:r>
              <a:rPr lang="ko-KR" altLang="en-US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Cheap LLM으로 충분하면 </a:t>
            </a:r>
            <a:r>
              <a:rPr lang="en-US" dirty="0">
                <a:solidFill>
                  <a:srgbClr val="4950B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ACCEPT</a:t>
            </a:r>
            <a:r>
              <a:rPr lang="en-US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애매하면 </a:t>
            </a:r>
            <a:r>
              <a:rPr lang="en-US" dirty="0">
                <a:solidFill>
                  <a:srgbClr val="4950B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RETRY</a:t>
            </a:r>
            <a:r>
              <a:rPr lang="en-US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어려우면 Strong LLM을 사용하도록 </a:t>
            </a:r>
            <a:r>
              <a:rPr lang="en-US" dirty="0">
                <a:solidFill>
                  <a:srgbClr val="4950B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ESCALATE</a:t>
            </a:r>
            <a:r>
              <a:rPr lang="en-US" dirty="0">
                <a:solidFill>
                  <a:srgbClr val="272525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하여 정답 F1과 비용 사이의 trade-off를 강화 학습(RL)으로 자동 최적화하는 것을 목표로 합니다.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85275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8C6FBEEF-62A2-4E0E-F190-19307E9A2BBB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RL</a:t>
            </a:r>
            <a:r>
              <a:rPr lang="ko-KR" alt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Environment</a:t>
            </a: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7D24C1AD-2580-BED9-C75B-BAC4869DF627}"/>
              </a:ext>
            </a:extLst>
          </p:cNvPr>
          <p:cNvSpPr/>
          <p:nvPr/>
        </p:nvSpPr>
        <p:spPr>
          <a:xfrm>
            <a:off x="407897" y="1181789"/>
            <a:ext cx="10677307" cy="53316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>
              <a:lnSpc>
                <a:spcPts val="2200"/>
              </a:lnSpc>
              <a:buFontTx/>
              <a:buChar char="-"/>
            </a:pPr>
            <a:r>
              <a:rPr lang="en-US" sz="17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State</a:t>
            </a:r>
            <a:r>
              <a:rPr lang="en-US" altLang="ko-KR" sz="17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11</a:t>
            </a:r>
            <a:r>
              <a:rPr lang="ko-KR" alt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개의 특징 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altLang="ko-KR" sz="175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state_features.py</a:t>
            </a:r>
            <a:r>
              <a:rPr lang="ko-KR" altLang="en-US" sz="175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정의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ko-US" altLang="ko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품질: answer_length, avg_logprob, TF-IDF, cheap_f1_est, is_empty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US" altLang="ko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구조: has_number, has_entity, question_length_norm, context_length_norm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US" altLang="ko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Episode 상황: retry_ratio, token_ratio </a:t>
            </a:r>
          </a:p>
          <a:p>
            <a:pPr>
              <a:lnSpc>
                <a:spcPts val="2200"/>
              </a:lnSpc>
            </a:pPr>
            <a:endParaRPr lang="en-US" sz="17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 algn="l">
              <a:lnSpc>
                <a:spcPts val="2200"/>
              </a:lnSpc>
              <a:buFontTx/>
              <a:buChar char="-"/>
            </a:pPr>
            <a:r>
              <a:rPr lang="en-US" sz="17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Action:</a:t>
            </a:r>
            <a:r>
              <a:rPr 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accept , retry, escalate</a:t>
            </a:r>
            <a:r>
              <a:rPr lang="ko-KR" alt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3</a:t>
            </a:r>
            <a:r>
              <a:rPr lang="ko-KR" alt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action</a:t>
            </a:r>
          </a:p>
          <a:p>
            <a:pPr marL="285750" indent="-285750" algn="l">
              <a:lnSpc>
                <a:spcPts val="2200"/>
              </a:lnSpc>
              <a:buFontTx/>
              <a:buChar char="-"/>
            </a:pPr>
            <a:endParaRPr lang="en-US" altLang="ko-KR" sz="17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ts val="2200"/>
              </a:lnSpc>
              <a:buFontTx/>
              <a:buChar char="-"/>
            </a:pPr>
            <a:r>
              <a:rPr 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Accept:  </a:t>
            </a:r>
            <a:r>
              <a:rPr lang="ko-KR" alt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현재 답 사용</a:t>
            </a:r>
            <a:endParaRPr lang="en-US" sz="17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ts val="2200"/>
              </a:lnSpc>
              <a:buFontTx/>
              <a:buChar char="-"/>
            </a:pPr>
            <a:r>
              <a:rPr 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Retry: 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cheap model </a:t>
            </a:r>
            <a:r>
              <a:rPr lang="ko-KR" alt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다시 사용</a:t>
            </a:r>
            <a:endParaRPr lang="en-US" sz="17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ts val="2200"/>
              </a:lnSpc>
              <a:buFontTx/>
              <a:buChar char="-"/>
            </a:pPr>
            <a:r>
              <a:rPr 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Escalate: 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strong model </a:t>
            </a:r>
            <a:r>
              <a:rPr lang="ko-KR" alt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</a:t>
            </a:r>
            <a:endParaRPr lang="en-US" sz="17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 algn="l">
              <a:lnSpc>
                <a:spcPts val="2200"/>
              </a:lnSpc>
              <a:buFontTx/>
              <a:buChar char="-"/>
            </a:pPr>
            <a:endParaRPr lang="en-US" sz="17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lnSpc>
                <a:spcPts val="2200"/>
              </a:lnSpc>
              <a:buFontTx/>
              <a:buChar char="-"/>
            </a:pPr>
            <a:r>
              <a:rPr lang="en-US" sz="17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Reward:</a:t>
            </a:r>
            <a:r>
              <a:rPr lang="ko-KR" altLang="en-US" sz="175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75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ts val="2200"/>
              </a:lnSpc>
              <a:buFontTx/>
              <a:buChar char="-"/>
            </a:pPr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Reward = </a:t>
            </a:r>
            <a:r>
              <a:rPr lang="en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F1_score​​−w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_</a:t>
            </a:r>
            <a:r>
              <a:rPr lang="en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token​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 </a:t>
            </a:r>
            <a:r>
              <a:rPr 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token_ratio</a:t>
            </a:r>
            <a:r>
              <a:rPr lang="en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​−</a:t>
            </a:r>
            <a:r>
              <a:rPr lang="en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w_strong</a:t>
            </a:r>
            <a:r>
              <a:rPr lang="en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​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en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strong_ratio−w_retry</a:t>
            </a:r>
            <a:r>
              <a:rPr lang="en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​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en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retry_ratio</a:t>
            </a:r>
            <a:endParaRPr lang="en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ts val="2200"/>
              </a:lnSpc>
              <a:buFontTx/>
              <a:buChar char="-"/>
            </a:pPr>
            <a:r>
              <a:rPr 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Output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품질은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f1 score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평가하고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Accept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하지 않았을 때의 </a:t>
            </a:r>
            <a:r>
              <a:rPr lang="en-US" altLang="ko-KR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penalty</a:t>
            </a:r>
            <a:r>
              <a:rPr lang="ko-KR" altLang="en-US" sz="14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적용</a:t>
            </a:r>
            <a:endParaRPr lang="en" sz="14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ts val="2200"/>
              </a:lnSpc>
              <a:buFontTx/>
              <a:buChar char="-"/>
            </a:pPr>
            <a:r>
              <a:rPr 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f1 score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0~1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범위라 나머지 값들도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0~1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사이로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regularization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했다</a:t>
            </a:r>
            <a:endParaRPr lang="en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ts val="2200"/>
              </a:lnSpc>
              <a:buFontTx/>
              <a:buChar char="-"/>
            </a:pPr>
            <a:r>
              <a:rPr lang="en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Token ratio: 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used token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en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/ 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token budget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" sz="17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ts val="2200"/>
              </a:lnSpc>
              <a:buFontTx/>
              <a:buChar char="-"/>
            </a:pPr>
            <a:r>
              <a:rPr lang="en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Strong ratio: (strong model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사용횟수</a:t>
            </a:r>
            <a:r>
              <a:rPr lang="en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/ 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 </a:t>
            </a:r>
            <a:r>
              <a:rPr lang="en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strong model</a:t>
            </a:r>
            <a:r>
              <a:rPr lang="ko-KR" alt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사용 횟수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7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ts val="2200"/>
              </a:lnSpc>
              <a:buFontTx/>
              <a:buChar char="-"/>
            </a:pPr>
            <a:r>
              <a:rPr 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Retry ratio: (retry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횟수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lang="ko-KR" alt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ko-KR" alt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retry </a:t>
            </a:r>
            <a:r>
              <a:rPr lang="ko-KR" altLang="en-US" sz="14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횟수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7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>
              <a:lnSpc>
                <a:spcPts val="2200"/>
              </a:lnSpc>
              <a:buFontTx/>
              <a:buChar char="-"/>
            </a:pPr>
            <a:r>
              <a:rPr lang="en-US" sz="175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w_token</a:t>
            </a:r>
            <a:r>
              <a:rPr 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sz="175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w_strong</a:t>
            </a:r>
            <a:r>
              <a:rPr 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en-US" sz="175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w_retry</a:t>
            </a:r>
            <a:r>
              <a:rPr lang="ko-KR" alt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75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hyperparameter</a:t>
            </a:r>
            <a:endParaRPr lang="en-US" sz="17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 algn="l">
              <a:lnSpc>
                <a:spcPts val="2200"/>
              </a:lnSpc>
              <a:buFontTx/>
              <a:buChar char="-"/>
            </a:pPr>
            <a:endParaRPr lang="en-US" sz="175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630507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CE529FD9-92F9-4AB3-2C00-78845CD51793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RL - Agent 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9F2A814-8D32-D75F-828F-3BA52A08F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9161" y="1739598"/>
            <a:ext cx="5455340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ko-US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Loss</a:t>
            </a:r>
            <a:r>
              <a:rPr kumimoji="0" lang="ko-KR" altLang="en-US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en-US" altLang="ko-KR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function</a:t>
            </a:r>
            <a:endParaRPr kumimoji="0" lang="en-US" altLang="ko-US" sz="1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ko-US" sz="18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US" altLang="ko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Policy Loss:</a:t>
            </a:r>
            <a:endParaRPr kumimoji="0" lang="en-US" altLang="ko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US" altLang="ko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US" altLang="ko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US" altLang="ko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Value Loss:</a:t>
            </a:r>
            <a:endParaRPr kumimoji="0" lang="en-US" altLang="ko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ko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US" altLang="ko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US" altLang="ko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Entropy Bonus:</a:t>
            </a:r>
            <a:endParaRPr kumimoji="0" lang="en-US" altLang="ko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ko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	: </a:t>
            </a:r>
            <a:r>
              <a:rPr kumimoji="0" lang="ko-US" altLang="ko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정책 분포의 entropy를 더해 exploration 유지</a:t>
            </a:r>
            <a:endParaRPr kumimoji="0" lang="en-US" altLang="ko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ko-US" altLang="ko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US" altLang="ko-US" sz="1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 Loss:</a:t>
            </a:r>
            <a:endParaRPr kumimoji="0" lang="en-US" altLang="ko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US" altLang="ko-US" sz="18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94EB45-D6D2-978E-8894-79135A66E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6444" y="2606858"/>
            <a:ext cx="2819400" cy="3810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C03F9CB-1FD2-A054-A112-9B5E57BD1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181" y="3387368"/>
            <a:ext cx="2273300" cy="46990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A55C663-5A3A-91A6-85C0-55688F5C6B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6444" y="5046836"/>
            <a:ext cx="3022600" cy="431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2D1B765-D7E6-00E8-66B2-E6C3890F84DD}"/>
              </a:ext>
            </a:extLst>
          </p:cNvPr>
          <p:cNvSpPr txBox="1"/>
          <p:nvPr/>
        </p:nvSpPr>
        <p:spPr>
          <a:xfrm>
            <a:off x="566057" y="1739598"/>
            <a:ext cx="379911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A2C</a:t>
            </a:r>
          </a:p>
          <a:p>
            <a:endParaRPr lang="en-US" b="1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공통 </a:t>
            </a:r>
            <a:r>
              <a:rPr lang="en-US" altLang="ko-KR" dirty="0"/>
              <a:t>body: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Linear(11-&gt; 128) + </a:t>
            </a:r>
            <a:r>
              <a:rPr lang="en-US" dirty="0" err="1"/>
              <a:t>ReLU</a:t>
            </a:r>
            <a:r>
              <a:rPr lang="en-US" dirty="0"/>
              <a:t> 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Linear(128-&gt; 128) + </a:t>
            </a:r>
            <a:r>
              <a:rPr lang="en-US" dirty="0" err="1"/>
              <a:t>ReLU</a:t>
            </a:r>
            <a:endParaRPr lang="en-US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Policy head: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Linear(128-&gt;3)</a:t>
            </a:r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Value: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Linear(128-&gt;1)</a:t>
            </a:r>
            <a:endParaRPr lang="ko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032B87-88D4-5B7E-1A0F-E55E8B7A5FC6}"/>
                  </a:ext>
                </a:extLst>
              </p:cNvPr>
              <p:cNvSpPr txBox="1"/>
              <p:nvPr/>
            </p:nvSpPr>
            <p:spPr>
              <a:xfrm>
                <a:off x="5213131" y="5770179"/>
                <a:ext cx="54882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US" i="1" smtClean="0"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𝑣𝑎𝑙𝑢𝑒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𝑙𝑜𝑠𝑠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𝑐𝑜𝑒𝑓𝑓𝑖𝑐𝑖𝑒𝑛𝑡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𝑒𝑛𝑡𝑟𝑜𝑝𝑦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𝑐𝑜𝑒𝑓𝑓𝑖𝑐𝑖𝑒𝑛𝑡</m:t>
                      </m:r>
                    </m:oMath>
                  </m:oMathPara>
                </a14:m>
                <a:endParaRPr lang="ko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C032B87-88D4-5B7E-1A0F-E55E8B7A5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3131" y="5770179"/>
                <a:ext cx="5488233" cy="369332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454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D206092-8CF4-F9A3-243E-027C36BB5517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RL – default hyperparameters 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8D04E3-78F0-641D-E4BE-4DD8364A51E4}"/>
              </a:ext>
            </a:extLst>
          </p:cNvPr>
          <p:cNvSpPr txBox="1"/>
          <p:nvPr/>
        </p:nvSpPr>
        <p:spPr>
          <a:xfrm>
            <a:off x="474133" y="1930400"/>
            <a:ext cx="108458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b="1" dirty="0" err="1"/>
              <a:t>w_retry</a:t>
            </a:r>
            <a:r>
              <a:rPr lang="en-US" b="1" dirty="0"/>
              <a:t> </a:t>
            </a:r>
            <a:r>
              <a:rPr lang="en-US" dirty="0"/>
              <a:t>=0.2</a:t>
            </a:r>
          </a:p>
          <a:p>
            <a:pPr marL="285750" indent="-285750">
              <a:buFontTx/>
              <a:buChar char="-"/>
            </a:pPr>
            <a:r>
              <a:rPr lang="en-US" b="1" dirty="0" err="1"/>
              <a:t>w_token</a:t>
            </a:r>
            <a:r>
              <a:rPr lang="en-US" dirty="0"/>
              <a:t> = 0.01</a:t>
            </a:r>
          </a:p>
          <a:p>
            <a:pPr marL="285750" indent="-285750">
              <a:buFontTx/>
              <a:buChar char="-"/>
            </a:pPr>
            <a:r>
              <a:rPr lang="en-US" b="1" dirty="0" err="1"/>
              <a:t>w_strong</a:t>
            </a:r>
            <a:r>
              <a:rPr lang="en-US" dirty="0"/>
              <a:t> = 0.7</a:t>
            </a:r>
          </a:p>
          <a:p>
            <a:pPr marL="742950" lvl="1" indent="-285750">
              <a:buFontTx/>
              <a:buChar char="-"/>
            </a:pPr>
            <a:r>
              <a:rPr lang="en-US" dirty="0"/>
              <a:t>Strong model </a:t>
            </a:r>
            <a:r>
              <a:rPr lang="ko-KR" altLang="en-US" dirty="0"/>
              <a:t>사용시 </a:t>
            </a:r>
            <a:r>
              <a:rPr lang="en-US" altLang="ko-KR" dirty="0"/>
              <a:t>f1 score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 err="1"/>
              <a:t>에</a:t>
            </a:r>
            <a:r>
              <a:rPr lang="ko-KR" altLang="en-US" dirty="0"/>
              <a:t> 가깝게 나오고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cheap model </a:t>
            </a:r>
            <a:r>
              <a:rPr lang="ko-KR" altLang="en-US" dirty="0"/>
              <a:t>사용시 </a:t>
            </a:r>
            <a:r>
              <a:rPr lang="en-US" altLang="ko-KR" dirty="0"/>
              <a:t>0.3~04</a:t>
            </a:r>
            <a:r>
              <a:rPr lang="ko-KR" altLang="en-US" dirty="0"/>
              <a:t> 정도 나와서 </a:t>
            </a:r>
            <a:r>
              <a:rPr lang="en-US" altLang="ko-KR" dirty="0"/>
              <a:t>default </a:t>
            </a:r>
            <a:r>
              <a:rPr lang="ko-KR" altLang="en-US" dirty="0"/>
              <a:t>값을 </a:t>
            </a:r>
            <a:r>
              <a:rPr lang="en-US" altLang="ko-KR" dirty="0"/>
              <a:t>0.7</a:t>
            </a:r>
            <a:r>
              <a:rPr lang="ko-KR" altLang="en-US" dirty="0"/>
              <a:t> 정도로 설정함 </a:t>
            </a:r>
            <a:endParaRPr lang="en-US" altLang="ko-KR" dirty="0"/>
          </a:p>
          <a:p>
            <a:pPr marL="742950" lvl="1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/>
              <a:t>num_episode</a:t>
            </a:r>
            <a:r>
              <a:rPr lang="en-US" dirty="0"/>
              <a:t> = 500</a:t>
            </a:r>
            <a:r>
              <a:rPr lang="ko-KR" altLang="en-US" dirty="0"/>
              <a:t> </a:t>
            </a:r>
            <a:r>
              <a:rPr lang="en-US" altLang="ko-KR" dirty="0"/>
              <a:t>(training data</a:t>
            </a:r>
            <a:r>
              <a:rPr lang="ko-KR" altLang="en-US" dirty="0"/>
              <a:t> 수</a:t>
            </a:r>
            <a:r>
              <a:rPr lang="en-US" altLang="ko-KR" dirty="0"/>
              <a:t>)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/>
              <a:t>learning_rate</a:t>
            </a:r>
            <a:r>
              <a:rPr lang="en-US" dirty="0"/>
              <a:t> = 1e-3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Gamma</a:t>
            </a:r>
            <a:r>
              <a:rPr lang="en-US" dirty="0"/>
              <a:t> = 0.99</a:t>
            </a:r>
            <a:r>
              <a:rPr lang="ko-KR" altLang="en-US" dirty="0"/>
              <a:t> </a:t>
            </a:r>
            <a:r>
              <a:rPr lang="en-US" altLang="ko-KR" dirty="0"/>
              <a:t>(discount factor)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 err="1"/>
              <a:t>Max_grad_norm</a:t>
            </a:r>
            <a:r>
              <a:rPr lang="en-US" dirty="0"/>
              <a:t> = 0.5 (gradient clipping)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b="1" dirty="0"/>
              <a:t>Value loss </a:t>
            </a:r>
            <a:r>
              <a:rPr lang="en-US" b="1" dirty="0" err="1"/>
              <a:t>coef</a:t>
            </a:r>
            <a:r>
              <a:rPr lang="en-US" dirty="0"/>
              <a:t> = 0.5</a:t>
            </a:r>
          </a:p>
          <a:p>
            <a:pPr marL="285750" indent="-285750">
              <a:buFontTx/>
              <a:buChar char="-"/>
            </a:pPr>
            <a:r>
              <a:rPr lang="en-US" b="1" dirty="0"/>
              <a:t>Entropy </a:t>
            </a:r>
            <a:r>
              <a:rPr lang="en-US" b="1" dirty="0" err="1"/>
              <a:t>coef</a:t>
            </a:r>
            <a:r>
              <a:rPr lang="en-US" dirty="0"/>
              <a:t> = 0.01</a:t>
            </a:r>
          </a:p>
        </p:txBody>
      </p:sp>
    </p:spTree>
    <p:extLst>
      <p:ext uri="{BB962C8B-B14F-4D97-AF65-F5344CB8AC3E}">
        <p14:creationId xmlns:p14="http://schemas.microsoft.com/office/powerpoint/2010/main" val="3439313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DC15E-B515-FBB8-B7BE-5BA31346D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F42AF8-3C8F-3459-D0EB-F1E39DFDA0F6}"/>
              </a:ext>
            </a:extLst>
          </p:cNvPr>
          <p:cNvSpPr txBox="1"/>
          <p:nvPr/>
        </p:nvSpPr>
        <p:spPr>
          <a:xfrm>
            <a:off x="1018572" y="2921168"/>
            <a:ext cx="34029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Result</a:t>
            </a:r>
            <a:endParaRPr lang="ko-US" sz="6000" dirty="0"/>
          </a:p>
        </p:txBody>
      </p:sp>
    </p:spTree>
    <p:extLst>
      <p:ext uri="{BB962C8B-B14F-4D97-AF65-F5344CB8AC3E}">
        <p14:creationId xmlns:p14="http://schemas.microsoft.com/office/powerpoint/2010/main" val="33738924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613FE7-66F1-10E3-EB63-62DA3ABB42A1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Result – training (action ratio)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7" name="그림 6" descr="텍스트, 스크린샷, 도표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BF459F4-6354-2534-A051-33938042B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8185" y="1415340"/>
            <a:ext cx="4624343" cy="308289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EE147225-35CE-E421-3851-823B4A51E179}"/>
              </a:ext>
            </a:extLst>
          </p:cNvPr>
          <p:cNvSpPr txBox="1"/>
          <p:nvPr/>
        </p:nvSpPr>
        <p:spPr>
          <a:xfrm>
            <a:off x="1730315" y="4855764"/>
            <a:ext cx="7701532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Cheap model</a:t>
            </a:r>
            <a:r>
              <a:rPr lang="ko-KR" altLang="en-US" dirty="0"/>
              <a:t> 결과 사용 </a:t>
            </a:r>
            <a:r>
              <a:rPr lang="en-US" altLang="ko-KR" dirty="0"/>
              <a:t>:</a:t>
            </a:r>
            <a:r>
              <a:rPr lang="ko-KR" altLang="en-US" dirty="0"/>
              <a:t> 약 </a:t>
            </a:r>
            <a:r>
              <a:rPr lang="en-US" altLang="ko-KR" dirty="0"/>
              <a:t>10%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Strong model </a:t>
            </a:r>
            <a:r>
              <a:rPr lang="ko-KR" altLang="en-US" dirty="0"/>
              <a:t>결과 사용</a:t>
            </a:r>
            <a:r>
              <a:rPr lang="en-US" altLang="ko-KR" dirty="0"/>
              <a:t>:</a:t>
            </a:r>
            <a:r>
              <a:rPr lang="ko-KR" altLang="en-US" dirty="0"/>
              <a:t> 약 </a:t>
            </a:r>
            <a:r>
              <a:rPr lang="en-US" altLang="ko-KR" dirty="0"/>
              <a:t>90</a:t>
            </a:r>
            <a:r>
              <a:rPr lang="ko-KR" altLang="en-US" dirty="0"/>
              <a:t> </a:t>
            </a:r>
            <a:r>
              <a:rPr lang="en-US" altLang="ko-KR" dirty="0"/>
              <a:t>%</a:t>
            </a:r>
          </a:p>
          <a:p>
            <a:r>
              <a:rPr lang="en-US" altLang="ko-KR" dirty="0"/>
              <a:t>Retry </a:t>
            </a:r>
            <a:r>
              <a:rPr lang="ko-KR" altLang="en-US" dirty="0"/>
              <a:t>횟수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50</a:t>
            </a:r>
            <a:r>
              <a:rPr lang="ko-KR" altLang="en-US" dirty="0"/>
              <a:t>회 정도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=&gt; </a:t>
            </a:r>
            <a:r>
              <a:rPr lang="ko-KR" altLang="en-US" dirty="0"/>
              <a:t>대부분의 경우 </a:t>
            </a:r>
            <a:r>
              <a:rPr lang="en-US" altLang="ko-KR" dirty="0"/>
              <a:t>strong model</a:t>
            </a:r>
            <a:r>
              <a:rPr lang="ko-KR" altLang="en-US" dirty="0"/>
              <a:t>을 선택해서 </a:t>
            </a:r>
            <a:r>
              <a:rPr lang="en-US" altLang="ko-KR" dirty="0"/>
              <a:t>routing</a:t>
            </a:r>
            <a:r>
              <a:rPr lang="ko-KR" altLang="en-US" dirty="0"/>
              <a:t> 이 잘 이루어지지 않는다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06571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15769-1DAB-3177-D928-F86A6D775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AD9643F-CC72-A641-EF1E-848B7B4EC2D2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Result</a:t>
            </a:r>
            <a:r>
              <a:rPr lang="ko-KR" alt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–</a:t>
            </a:r>
            <a:r>
              <a:rPr lang="ko-KR" alt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training (A2C loss,</a:t>
            </a:r>
            <a:r>
              <a:rPr lang="ko-KR" alt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reward)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1" name="그림 10" descr="라인, 그래프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A725FB-F4A6-CAAB-508D-0551CF019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368" y="2926565"/>
            <a:ext cx="4789632" cy="1915853"/>
          </a:xfrm>
          <a:prstGeom prst="rect">
            <a:avLst/>
          </a:prstGeom>
        </p:spPr>
      </p:pic>
      <p:pic>
        <p:nvPicPr>
          <p:cNvPr id="3" name="그림 2" descr="라인, 그래프, 스크린샷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0A3228-9FCB-3250-8A74-9C0373A8FE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367" y="4767804"/>
            <a:ext cx="4789633" cy="19158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918288-84FC-3D8B-5073-D08781AEBC78}"/>
              </a:ext>
            </a:extLst>
          </p:cNvPr>
          <p:cNvSpPr txBox="1"/>
          <p:nvPr/>
        </p:nvSpPr>
        <p:spPr>
          <a:xfrm>
            <a:off x="5708591" y="1929400"/>
            <a:ext cx="522654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ko-KR" altLang="en-US" dirty="0"/>
              <a:t>기본적으로 문제가 곧 </a:t>
            </a:r>
            <a:r>
              <a:rPr lang="en-US" altLang="ko-KR" dirty="0"/>
              <a:t>episode</a:t>
            </a:r>
            <a:r>
              <a:rPr lang="ko-KR" altLang="en-US" dirty="0"/>
              <a:t> 이기에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episode</a:t>
            </a:r>
            <a:r>
              <a:rPr lang="ko-KR" altLang="en-US" dirty="0"/>
              <a:t> 간의 유사도가 크지 않아서 중간중간에 튀는 값이 생긴다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초반</a:t>
            </a:r>
            <a:r>
              <a:rPr lang="en-US" altLang="ko-KR" dirty="0"/>
              <a:t>(episode 100</a:t>
            </a:r>
            <a:r>
              <a:rPr lang="ko-KR" altLang="en-US" dirty="0"/>
              <a:t> 이전</a:t>
            </a:r>
            <a:r>
              <a:rPr lang="en-US" altLang="ko-KR" dirty="0"/>
              <a:t>)</a:t>
            </a:r>
            <a:r>
              <a:rPr lang="ko-KR" altLang="en-US" dirty="0"/>
              <a:t> 에는 </a:t>
            </a:r>
            <a:r>
              <a:rPr lang="en-US" altLang="ko-KR" dirty="0"/>
              <a:t>reward, policy loss, value loss</a:t>
            </a:r>
            <a:r>
              <a:rPr lang="ko-KR" altLang="en-US" dirty="0"/>
              <a:t> 모두 변동하지만</a:t>
            </a:r>
            <a:r>
              <a:rPr lang="en-US" altLang="ko-KR" dirty="0"/>
              <a:t>,</a:t>
            </a:r>
            <a:r>
              <a:rPr lang="ko-KR" altLang="en-US" dirty="0"/>
              <a:t> 결국에는 수렴하게 된다</a:t>
            </a:r>
            <a:r>
              <a:rPr lang="en-US" altLang="ko-KR" dirty="0"/>
              <a:t>.</a:t>
            </a:r>
            <a:r>
              <a:rPr lang="ko-KR" altLang="en-US" dirty="0"/>
              <a:t> 이를 통해서 </a:t>
            </a:r>
            <a:r>
              <a:rPr lang="en-US" altLang="ko-KR" dirty="0"/>
              <a:t>A2C</a:t>
            </a:r>
            <a:r>
              <a:rPr lang="ko-KR" altLang="en-US" dirty="0"/>
              <a:t> 가 학습이 되는 것을 알 수 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하지만 </a:t>
            </a:r>
            <a:r>
              <a:rPr lang="en-US" dirty="0"/>
              <a:t>Policy, value</a:t>
            </a:r>
            <a:r>
              <a:rPr lang="ko-KR" altLang="en-US" dirty="0"/>
              <a:t> </a:t>
            </a:r>
            <a:r>
              <a:rPr lang="en-US" altLang="ko-KR" dirty="0"/>
              <a:t>loss</a:t>
            </a:r>
            <a:r>
              <a:rPr lang="ko-KR" altLang="en-US" dirty="0"/>
              <a:t>가 이르게 수렴했고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strong</a:t>
            </a:r>
            <a:r>
              <a:rPr lang="ko-KR" altLang="en-US" dirty="0"/>
              <a:t>만 사용하는 정책으로 </a:t>
            </a:r>
            <a:r>
              <a:rPr lang="en-US" altLang="ko-KR" dirty="0"/>
              <a:t>collapse </a:t>
            </a:r>
            <a:r>
              <a:rPr lang="ko-KR" altLang="en-US" dirty="0"/>
              <a:t>해서 의도한 </a:t>
            </a:r>
            <a:r>
              <a:rPr lang="en-US" altLang="ko-KR" dirty="0"/>
              <a:t>routing </a:t>
            </a:r>
            <a:r>
              <a:rPr lang="ko-KR" altLang="en-US" dirty="0"/>
              <a:t>정책을 얻지 못했다</a:t>
            </a:r>
            <a:r>
              <a:rPr lang="en-US" altLang="ko-KR" dirty="0"/>
              <a:t>.</a:t>
            </a:r>
            <a:endParaRPr lang="ko-US" dirty="0"/>
          </a:p>
        </p:txBody>
      </p:sp>
      <p:pic>
        <p:nvPicPr>
          <p:cNvPr id="5" name="그림 4" descr="라인, 그래프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367AE0-783A-FF2C-8DF0-3DA28BFE4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122" y="1179214"/>
            <a:ext cx="4554909" cy="18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752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7E4D66B-8291-E86A-26EC-7EFEB58D50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4579" y="1905720"/>
            <a:ext cx="8456775" cy="2037282"/>
          </a:xfr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155EC627-30B8-2AE6-A5EA-36A31D7A35AD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Result - evaluate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83FAEE-6BF6-9C23-4117-8A6BF5E12EC9}"/>
              </a:ext>
            </a:extLst>
          </p:cNvPr>
          <p:cNvSpPr txBox="1"/>
          <p:nvPr/>
        </p:nvSpPr>
        <p:spPr>
          <a:xfrm>
            <a:off x="854579" y="4272677"/>
            <a:ext cx="86825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A2C (ep = 10) </a:t>
            </a:r>
            <a:r>
              <a:rPr lang="ko-KR" altLang="en-US" dirty="0"/>
              <a:t>은 </a:t>
            </a:r>
            <a:r>
              <a:rPr lang="en-US" altLang="ko-KR" dirty="0"/>
              <a:t>episode 10</a:t>
            </a:r>
            <a:r>
              <a:rPr lang="ko-KR" altLang="en-US" dirty="0"/>
              <a:t>번째 까지 진행되었을 때의 모델이다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ko-KR" altLang="en-US" dirty="0"/>
              <a:t>초반</a:t>
            </a:r>
            <a:r>
              <a:rPr lang="en-US" altLang="ko-KR" dirty="0"/>
              <a:t>(episode =10)</a:t>
            </a:r>
            <a:r>
              <a:rPr lang="ko-KR" altLang="en-US" dirty="0"/>
              <a:t>에는 무조건 </a:t>
            </a:r>
            <a:r>
              <a:rPr lang="en-US" altLang="ko-KR" dirty="0"/>
              <a:t>Accept </a:t>
            </a:r>
            <a:r>
              <a:rPr lang="ko-KR" altLang="en-US" dirty="0"/>
              <a:t> 하게 설계되지만</a:t>
            </a:r>
            <a:r>
              <a:rPr lang="en-US" altLang="ko-KR" dirty="0"/>
              <a:t>,</a:t>
            </a:r>
            <a:r>
              <a:rPr lang="ko-KR" altLang="en-US" dirty="0"/>
              <a:t> 이후</a:t>
            </a:r>
            <a:r>
              <a:rPr lang="en-US" altLang="ko-KR" dirty="0"/>
              <a:t>(ep =50 </a:t>
            </a:r>
            <a:r>
              <a:rPr lang="ko-KR" altLang="en-US" dirty="0"/>
              <a:t>이후</a:t>
            </a:r>
            <a:r>
              <a:rPr lang="en-US" altLang="ko-KR" dirty="0"/>
              <a:t>)</a:t>
            </a:r>
            <a:r>
              <a:rPr lang="ko-KR" altLang="en-US" dirty="0" err="1"/>
              <a:t>에</a:t>
            </a:r>
            <a:r>
              <a:rPr lang="ko-KR" altLang="en-US" dirty="0"/>
              <a:t> </a:t>
            </a:r>
            <a:r>
              <a:rPr lang="en-US" altLang="ko-KR" dirty="0"/>
              <a:t>Escalate</a:t>
            </a:r>
            <a:r>
              <a:rPr lang="ko-KR" altLang="en-US" dirty="0"/>
              <a:t> 하는 정책으로 수렴한다</a:t>
            </a:r>
            <a:r>
              <a:rPr lang="en-US" altLang="ko-KR" dirty="0"/>
              <a:t>. Episode</a:t>
            </a:r>
            <a:r>
              <a:rPr lang="ko-KR" altLang="en-US" dirty="0"/>
              <a:t>가 늘어나면서 학습이 되고 있음을 알 수 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Retry</a:t>
            </a:r>
            <a:r>
              <a:rPr lang="ko-KR" altLang="en-US" dirty="0"/>
              <a:t>는 시도조차 하지 않는다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altLang="ko-KR" dirty="0"/>
              <a:t>=&gt;</a:t>
            </a:r>
            <a:r>
              <a:rPr lang="ko-KR" altLang="en-US" dirty="0"/>
              <a:t> </a:t>
            </a:r>
            <a:r>
              <a:rPr lang="en-US" dirty="0"/>
              <a:t>Parameter</a:t>
            </a:r>
            <a:r>
              <a:rPr lang="ko-KR" altLang="en-US" dirty="0"/>
              <a:t> 값을 잘 설정해야 한쪽으로 쏠리지 않는 정책을 얻을 수 있다</a:t>
            </a:r>
            <a:r>
              <a:rPr lang="en-US" altLang="ko-KR" dirty="0"/>
              <a:t>.</a:t>
            </a:r>
            <a:endParaRPr lang="ko-US" dirty="0"/>
          </a:p>
        </p:txBody>
      </p:sp>
    </p:spTree>
    <p:extLst>
      <p:ext uri="{BB962C8B-B14F-4D97-AF65-F5344CB8AC3E}">
        <p14:creationId xmlns:p14="http://schemas.microsoft.com/office/powerpoint/2010/main" val="21573204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16DF2F-9E0E-8A93-8B6A-D8E433B89164}"/>
              </a:ext>
            </a:extLst>
          </p:cNvPr>
          <p:cNvSpPr txBox="1"/>
          <p:nvPr/>
        </p:nvSpPr>
        <p:spPr>
          <a:xfrm>
            <a:off x="1018572" y="2921168"/>
            <a:ext cx="34029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Ablation</a:t>
            </a:r>
            <a:endParaRPr lang="ko-US" sz="6000" dirty="0"/>
          </a:p>
        </p:txBody>
      </p:sp>
    </p:spTree>
    <p:extLst>
      <p:ext uri="{BB962C8B-B14F-4D97-AF65-F5344CB8AC3E}">
        <p14:creationId xmlns:p14="http://schemas.microsoft.com/office/powerpoint/2010/main" val="10046500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064DD6F-7274-68E8-49D5-A8EEB0E34232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Ablation</a:t>
            </a:r>
            <a:r>
              <a:rPr lang="ko-KR" alt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altLang="ko-KR" sz="32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w_strong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109FC3AC-A3F2-96CF-89B5-B1AFB811FF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166044"/>
              </p:ext>
            </p:extLst>
          </p:nvPr>
        </p:nvGraphicFramePr>
        <p:xfrm>
          <a:off x="1021356" y="1253825"/>
          <a:ext cx="10356560" cy="424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13">
                  <a:extLst>
                    <a:ext uri="{9D8B030D-6E8A-4147-A177-3AD203B41FA5}">
                      <a16:colId xmlns:a16="http://schemas.microsoft.com/office/drawing/2014/main" val="2600981979"/>
                    </a:ext>
                  </a:extLst>
                </a:gridCol>
                <a:gridCol w="1487842">
                  <a:extLst>
                    <a:ext uri="{9D8B030D-6E8A-4147-A177-3AD203B41FA5}">
                      <a16:colId xmlns:a16="http://schemas.microsoft.com/office/drawing/2014/main" val="40340816"/>
                    </a:ext>
                  </a:extLst>
                </a:gridCol>
                <a:gridCol w="1624537">
                  <a:extLst>
                    <a:ext uri="{9D8B030D-6E8A-4147-A177-3AD203B41FA5}">
                      <a16:colId xmlns:a16="http://schemas.microsoft.com/office/drawing/2014/main" val="4088684244"/>
                    </a:ext>
                  </a:extLst>
                </a:gridCol>
                <a:gridCol w="1995045">
                  <a:extLst>
                    <a:ext uri="{9D8B030D-6E8A-4147-A177-3AD203B41FA5}">
                      <a16:colId xmlns:a16="http://schemas.microsoft.com/office/drawing/2014/main" val="3668759861"/>
                    </a:ext>
                  </a:extLst>
                </a:gridCol>
                <a:gridCol w="3177823">
                  <a:extLst>
                    <a:ext uri="{9D8B030D-6E8A-4147-A177-3AD203B41FA5}">
                      <a16:colId xmlns:a16="http://schemas.microsoft.com/office/drawing/2014/main" val="4122258605"/>
                    </a:ext>
                  </a:extLst>
                </a:gridCol>
              </a:tblGrid>
              <a:tr h="259608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Reward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F1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tokens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 distribution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(A / R / E)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17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cheap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0.1671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0.1722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262.4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 / 0.00 / 0.00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7538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strong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405.8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88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random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0.2004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0.5498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335.0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0.51 / 0.00 / 0.49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504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w_strong</a:t>
                      </a:r>
                      <a:r>
                        <a:rPr lang="en-US" dirty="0"/>
                        <a:t> = 0.6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406.2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6947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w_strong</a:t>
                      </a:r>
                      <a:r>
                        <a:rPr lang="en-US" dirty="0"/>
                        <a:t> = 0.7 (default)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406.2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2222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w_strong</a:t>
                      </a:r>
                      <a:r>
                        <a:rPr lang="en-US" dirty="0"/>
                        <a:t> = 0.75 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0.3192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0.9004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374.4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0.18 / 0.00 / 0.82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328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w_strong</a:t>
                      </a:r>
                      <a:r>
                        <a:rPr lang="en-US" dirty="0"/>
                        <a:t> = 0.8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0.3080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0.9173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383.8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0.14 / 0.00 / 0.86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9244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w_strong</a:t>
                      </a:r>
                      <a:r>
                        <a:rPr lang="en-US" dirty="0"/>
                        <a:t> = 0.9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0.2015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0.2067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268.2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1.00 / 0.00 / 0.00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9913546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Reward = 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F1_score​​−w</a:t>
                      </a: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token_ratio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​−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w_strong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strong_ratio−w_retry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retry_ratio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Action : A = Accept, R = Retry, E = Escalate</a:t>
                      </a:r>
                      <a:endParaRPr lang="en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14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19114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90424959-55B5-24C2-858C-545D2C345507}"/>
              </a:ext>
            </a:extLst>
          </p:cNvPr>
          <p:cNvSpPr txBox="1"/>
          <p:nvPr/>
        </p:nvSpPr>
        <p:spPr>
          <a:xfrm>
            <a:off x="1021356" y="5495625"/>
            <a:ext cx="10356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Symbol" pitchFamily="2" charset="2"/>
              <a:buChar char="Þ"/>
            </a:pPr>
            <a:r>
              <a:rPr lang="en-US" altLang="ko-KR" dirty="0" err="1"/>
              <a:t>w_strong</a:t>
            </a:r>
            <a:r>
              <a:rPr lang="ko-KR" altLang="en-US" dirty="0"/>
              <a:t> 이 커져서 </a:t>
            </a:r>
            <a:r>
              <a:rPr lang="en-US" altLang="ko-KR" dirty="0"/>
              <a:t>0.9 </a:t>
            </a:r>
            <a:r>
              <a:rPr lang="ko-KR" altLang="en-US" dirty="0"/>
              <a:t>가 되면 </a:t>
            </a:r>
            <a:r>
              <a:rPr lang="en-US" altLang="ko-KR" dirty="0"/>
              <a:t>cheap </a:t>
            </a:r>
            <a:r>
              <a:rPr lang="ko-KR" altLang="en-US" dirty="0"/>
              <a:t>만 선택한다</a:t>
            </a:r>
            <a:r>
              <a:rPr lang="en-US" altLang="ko-KR" dirty="0"/>
              <a:t>. </a:t>
            </a:r>
            <a:r>
              <a:rPr lang="en-US" dirty="0" err="1"/>
              <a:t>w_strong</a:t>
            </a:r>
            <a:r>
              <a:rPr lang="en-US" dirty="0"/>
              <a:t> </a:t>
            </a:r>
            <a:r>
              <a:rPr lang="ko-KR" altLang="en-US" dirty="0"/>
              <a:t>값이 </a:t>
            </a:r>
            <a:r>
              <a:rPr lang="en-US" altLang="ko-KR" dirty="0"/>
              <a:t>0.75~0.8</a:t>
            </a:r>
            <a:r>
              <a:rPr lang="ko-KR" altLang="en-US" dirty="0"/>
              <a:t> 정도 되야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action</a:t>
            </a:r>
            <a:r>
              <a:rPr lang="ko-KR" altLang="en-US" dirty="0"/>
              <a:t>이 한쪽으로 몰리지 않는다</a:t>
            </a:r>
            <a:r>
              <a:rPr lang="en-US" altLang="ko-KR" dirty="0"/>
              <a:t>.</a:t>
            </a:r>
            <a:endParaRPr lang="en-US" dirty="0"/>
          </a:p>
          <a:p>
            <a:pPr marL="285750" indent="-285750">
              <a:buFont typeface="Symbol" pitchFamily="2" charset="2"/>
              <a:buChar char="Þ"/>
            </a:pPr>
            <a:r>
              <a:rPr lang="en-US" altLang="ko-KR" dirty="0" err="1"/>
              <a:t>w_strong</a:t>
            </a:r>
            <a:r>
              <a:rPr lang="ko-KR" altLang="en-US" dirty="0"/>
              <a:t>의 수치가  </a:t>
            </a:r>
            <a:r>
              <a:rPr lang="en-US" altLang="ko-KR" dirty="0"/>
              <a:t>routing </a:t>
            </a:r>
            <a:r>
              <a:rPr lang="ko-KR" altLang="en-US" dirty="0" err="1"/>
              <a:t>에</a:t>
            </a:r>
            <a:r>
              <a:rPr lang="ko-KR" altLang="en-US" dirty="0"/>
              <a:t> 영향이 큼을 알 수 있다</a:t>
            </a:r>
            <a:r>
              <a:rPr lang="en-US" altLang="ko-KR" dirty="0"/>
              <a:t>.</a:t>
            </a:r>
          </a:p>
          <a:p>
            <a:pPr marL="285750" indent="-285750">
              <a:buFont typeface="Symbol" pitchFamily="2" charset="2"/>
              <a:buChar char="Þ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2693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763A2-352E-9773-2314-F62B55AF8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6B7412B9-C7FF-F440-B801-1D52CE63D42A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Ablation</a:t>
            </a:r>
            <a:r>
              <a:rPr lang="ko-KR" alt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altLang="ko-KR" sz="32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w_token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8F1EE65-F991-4112-47B9-AA8546B8D5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930306"/>
              </p:ext>
            </p:extLst>
          </p:nvPr>
        </p:nvGraphicFramePr>
        <p:xfrm>
          <a:off x="1021356" y="1493520"/>
          <a:ext cx="1035656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13">
                  <a:extLst>
                    <a:ext uri="{9D8B030D-6E8A-4147-A177-3AD203B41FA5}">
                      <a16:colId xmlns:a16="http://schemas.microsoft.com/office/drawing/2014/main" val="2600981979"/>
                    </a:ext>
                  </a:extLst>
                </a:gridCol>
                <a:gridCol w="1487842">
                  <a:extLst>
                    <a:ext uri="{9D8B030D-6E8A-4147-A177-3AD203B41FA5}">
                      <a16:colId xmlns:a16="http://schemas.microsoft.com/office/drawing/2014/main" val="40340816"/>
                    </a:ext>
                  </a:extLst>
                </a:gridCol>
                <a:gridCol w="1624537">
                  <a:extLst>
                    <a:ext uri="{9D8B030D-6E8A-4147-A177-3AD203B41FA5}">
                      <a16:colId xmlns:a16="http://schemas.microsoft.com/office/drawing/2014/main" val="4088684244"/>
                    </a:ext>
                  </a:extLst>
                </a:gridCol>
                <a:gridCol w="1995045">
                  <a:extLst>
                    <a:ext uri="{9D8B030D-6E8A-4147-A177-3AD203B41FA5}">
                      <a16:colId xmlns:a16="http://schemas.microsoft.com/office/drawing/2014/main" val="3668759861"/>
                    </a:ext>
                  </a:extLst>
                </a:gridCol>
                <a:gridCol w="3177823">
                  <a:extLst>
                    <a:ext uri="{9D8B030D-6E8A-4147-A177-3AD203B41FA5}">
                      <a16:colId xmlns:a16="http://schemas.microsoft.com/office/drawing/2014/main" val="4122258605"/>
                    </a:ext>
                  </a:extLst>
                </a:gridCol>
              </a:tblGrid>
              <a:tr h="259608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Reward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F1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tokens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 distribution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(A / R / E)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17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cheap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0.1671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0.1722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262.4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 / 0.00 / 0.00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7538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strong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405.8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88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random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0.2004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0.5498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335.0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0.51 / 0.00 / 0.49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504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w_token</a:t>
                      </a:r>
                      <a:r>
                        <a:rPr lang="en-US" dirty="0"/>
                        <a:t> = 0.01</a:t>
                      </a:r>
                    </a:p>
                    <a:p>
                      <a:r>
                        <a:rPr lang="en-US" dirty="0"/>
                        <a:t>(default)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406.2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6947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w_token</a:t>
                      </a:r>
                      <a:r>
                        <a:rPr lang="en-US" dirty="0"/>
                        <a:t> = 0.05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0.3080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0.9173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383.8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0.14 / 0.00 / 0.86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381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w_token</a:t>
                      </a:r>
                      <a:r>
                        <a:rPr lang="en-US" dirty="0"/>
                        <a:t> = 0.1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0.3127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0.9150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381.9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0.15 / 0.00 / 0.85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328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w_token</a:t>
                      </a:r>
                      <a:r>
                        <a:rPr lang="en-US" dirty="0"/>
                        <a:t> = 0.2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406.2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92441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Reward = 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F1_score​​−w</a:t>
                      </a: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token_ratio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​−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w_strong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strong_ratio−w_retry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retry_ratio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Action : A = Accept, R = Retry, E = Escalate</a:t>
                      </a:r>
                      <a:endParaRPr lang="en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solidFill>
                      <a:srgbClr val="14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1911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442528CF-9DF9-394E-4504-A00D676FEF54}"/>
              </a:ext>
            </a:extLst>
          </p:cNvPr>
          <p:cNvSpPr txBox="1"/>
          <p:nvPr/>
        </p:nvSpPr>
        <p:spPr>
          <a:xfrm>
            <a:off x="1134319" y="5615523"/>
            <a:ext cx="91324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w_token</a:t>
            </a:r>
            <a:r>
              <a:rPr lang="en-US" dirty="0"/>
              <a:t> </a:t>
            </a:r>
            <a:r>
              <a:rPr lang="en-US" dirty="0" err="1"/>
              <a:t>이</a:t>
            </a:r>
            <a:r>
              <a:rPr lang="en-US" dirty="0"/>
              <a:t> 0.05~0.1 </a:t>
            </a:r>
            <a:r>
              <a:rPr lang="en-US" dirty="0" err="1"/>
              <a:t>사이에서</a:t>
            </a:r>
            <a:r>
              <a:rPr lang="en-US" dirty="0"/>
              <a:t> </a:t>
            </a:r>
            <a:r>
              <a:rPr lang="en-US" dirty="0" err="1"/>
              <a:t>어느정도</a:t>
            </a:r>
            <a:r>
              <a:rPr lang="en-US" dirty="0"/>
              <a:t> </a:t>
            </a:r>
            <a:r>
              <a:rPr lang="en-US" altLang="ko-KR" dirty="0"/>
              <a:t>routing</a:t>
            </a:r>
            <a:r>
              <a:rPr lang="ko-KR" altLang="en-US" dirty="0"/>
              <a:t>이 됨을 알 수 있다</a:t>
            </a:r>
            <a:r>
              <a:rPr lang="en-US" altLang="ko-KR" dirty="0"/>
              <a:t>.</a:t>
            </a:r>
            <a:r>
              <a:rPr lang="en-US" dirty="0"/>
              <a:t> 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err="1"/>
              <a:t>w_token</a:t>
            </a:r>
            <a:r>
              <a:rPr lang="en-US" dirty="0"/>
              <a:t> </a:t>
            </a:r>
            <a:r>
              <a:rPr lang="en-US" dirty="0" err="1"/>
              <a:t>이</a:t>
            </a:r>
            <a:r>
              <a:rPr lang="en-US" dirty="0"/>
              <a:t> </a:t>
            </a:r>
            <a:r>
              <a:rPr lang="en-US" dirty="0" err="1"/>
              <a:t>커지면</a:t>
            </a:r>
            <a:r>
              <a:rPr lang="en-US" dirty="0"/>
              <a:t> </a:t>
            </a:r>
            <a:r>
              <a:rPr lang="en-US" dirty="0" err="1"/>
              <a:t>result가</a:t>
            </a:r>
            <a:r>
              <a:rPr lang="en-US" dirty="0"/>
              <a:t> </a:t>
            </a:r>
            <a:r>
              <a:rPr lang="en-US" dirty="0" err="1"/>
              <a:t>더</a:t>
            </a:r>
            <a:r>
              <a:rPr lang="en-US" dirty="0"/>
              <a:t> </a:t>
            </a:r>
            <a:r>
              <a:rPr lang="en-US" dirty="0" err="1"/>
              <a:t>작아진다</a:t>
            </a:r>
            <a:r>
              <a:rPr lang="en-US" altLang="ko-KR" dirty="0"/>
              <a:t>.</a:t>
            </a:r>
            <a:r>
              <a:rPr lang="en-US" dirty="0"/>
              <a:t> </a:t>
            </a:r>
            <a:endParaRPr lang="ko-US" dirty="0"/>
          </a:p>
        </p:txBody>
      </p:sp>
    </p:spTree>
    <p:extLst>
      <p:ext uri="{BB962C8B-B14F-4D97-AF65-F5344CB8AC3E}">
        <p14:creationId xmlns:p14="http://schemas.microsoft.com/office/powerpoint/2010/main" val="21967790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5FE36-6506-1C97-BFFA-0457D0CBA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FF35DBC7-6F00-6138-6DCB-04A866C10619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Ablation</a:t>
            </a:r>
            <a:r>
              <a:rPr lang="ko-KR" alt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altLang="ko-KR" sz="32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w_retry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C67A0346-4CB9-4494-9F4E-4461263833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591716"/>
              </p:ext>
            </p:extLst>
          </p:nvPr>
        </p:nvGraphicFramePr>
        <p:xfrm>
          <a:off x="1021356" y="1493520"/>
          <a:ext cx="1035656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13">
                  <a:extLst>
                    <a:ext uri="{9D8B030D-6E8A-4147-A177-3AD203B41FA5}">
                      <a16:colId xmlns:a16="http://schemas.microsoft.com/office/drawing/2014/main" val="2600981979"/>
                    </a:ext>
                  </a:extLst>
                </a:gridCol>
                <a:gridCol w="1487842">
                  <a:extLst>
                    <a:ext uri="{9D8B030D-6E8A-4147-A177-3AD203B41FA5}">
                      <a16:colId xmlns:a16="http://schemas.microsoft.com/office/drawing/2014/main" val="40340816"/>
                    </a:ext>
                  </a:extLst>
                </a:gridCol>
                <a:gridCol w="1624537">
                  <a:extLst>
                    <a:ext uri="{9D8B030D-6E8A-4147-A177-3AD203B41FA5}">
                      <a16:colId xmlns:a16="http://schemas.microsoft.com/office/drawing/2014/main" val="4088684244"/>
                    </a:ext>
                  </a:extLst>
                </a:gridCol>
                <a:gridCol w="1995045">
                  <a:extLst>
                    <a:ext uri="{9D8B030D-6E8A-4147-A177-3AD203B41FA5}">
                      <a16:colId xmlns:a16="http://schemas.microsoft.com/office/drawing/2014/main" val="3668759861"/>
                    </a:ext>
                  </a:extLst>
                </a:gridCol>
                <a:gridCol w="3177823">
                  <a:extLst>
                    <a:ext uri="{9D8B030D-6E8A-4147-A177-3AD203B41FA5}">
                      <a16:colId xmlns:a16="http://schemas.microsoft.com/office/drawing/2014/main" val="4122258605"/>
                    </a:ext>
                  </a:extLst>
                </a:gridCol>
              </a:tblGrid>
              <a:tr h="259608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Reward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F1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tokens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 distribution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(A / R / E)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17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cheap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0.1671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0.1722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262.4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 / 0.00 / 0.00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7538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strong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405.8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88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random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0.2004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0.5498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335.0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0.51 / 0.00 / 0.49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504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w_retry</a:t>
                      </a:r>
                      <a:r>
                        <a:rPr lang="en-US" dirty="0"/>
                        <a:t> = 0.01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0.3127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0.9150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381.9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0.15 / 0.00 / 0.85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6947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w_retry</a:t>
                      </a:r>
                      <a:r>
                        <a:rPr lang="en-US" dirty="0"/>
                        <a:t> = 0.05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0.3177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0.9129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378.3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0.16 / 0.00 / 0.84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381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w_retry</a:t>
                      </a:r>
                      <a:r>
                        <a:rPr lang="en-US" dirty="0"/>
                        <a:t> = 0.1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0.3027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0.9261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387.7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0.12 / 0.00 / 0.88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328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w_retry</a:t>
                      </a:r>
                      <a:r>
                        <a:rPr lang="en-US" dirty="0"/>
                        <a:t> = 0.2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(default)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406.2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92441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Reward = 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F1_score​​−w</a:t>
                      </a: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token_ratio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​−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w_strong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strong_ratio−w_retry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retry_ratio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Action : A = Accept, R = Retry, E = Escalate</a:t>
                      </a:r>
                      <a:endParaRPr lang="en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solidFill>
                      <a:srgbClr val="14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1911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FBCAF40-6D68-237B-F220-2D155771D125}"/>
              </a:ext>
            </a:extLst>
          </p:cNvPr>
          <p:cNvSpPr txBox="1"/>
          <p:nvPr/>
        </p:nvSpPr>
        <p:spPr>
          <a:xfrm>
            <a:off x="1021356" y="5530949"/>
            <a:ext cx="931671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w_retry</a:t>
            </a:r>
            <a:r>
              <a:rPr lang="en-US" dirty="0"/>
              <a:t> </a:t>
            </a:r>
            <a:r>
              <a:rPr lang="en-US" dirty="0" err="1"/>
              <a:t>값을</a:t>
            </a:r>
            <a:r>
              <a:rPr lang="en-US" dirty="0"/>
              <a:t> </a:t>
            </a:r>
            <a:r>
              <a:rPr lang="en-US" dirty="0" err="1"/>
              <a:t>더</a:t>
            </a:r>
            <a:r>
              <a:rPr lang="en-US" dirty="0"/>
              <a:t> </a:t>
            </a:r>
            <a:r>
              <a:rPr lang="en-US" dirty="0" err="1"/>
              <a:t>작게</a:t>
            </a:r>
            <a:r>
              <a:rPr lang="en-US" dirty="0"/>
              <a:t> </a:t>
            </a:r>
            <a:r>
              <a:rPr lang="en-US" dirty="0" err="1"/>
              <a:t>하면</a:t>
            </a:r>
            <a:r>
              <a:rPr lang="en-US" dirty="0"/>
              <a:t>  cheap </a:t>
            </a:r>
            <a:r>
              <a:rPr lang="en-US" dirty="0" err="1"/>
              <a:t>model을</a:t>
            </a:r>
            <a:r>
              <a:rPr lang="en-US" dirty="0"/>
              <a:t> </a:t>
            </a:r>
            <a:r>
              <a:rPr lang="en-US" dirty="0" err="1"/>
              <a:t>사용하게</a:t>
            </a:r>
            <a:r>
              <a:rPr lang="en-US" dirty="0"/>
              <a:t> </a:t>
            </a:r>
            <a:r>
              <a:rPr lang="en-US" dirty="0" err="1"/>
              <a:t>되지만</a:t>
            </a:r>
            <a:r>
              <a:rPr lang="en-US" dirty="0"/>
              <a:t> </a:t>
            </a:r>
            <a:r>
              <a:rPr lang="en-US" altLang="ko-KR" dirty="0"/>
              <a:t>, retry ratio</a:t>
            </a:r>
            <a:r>
              <a:rPr lang="ko-KR" altLang="en-US" dirty="0"/>
              <a:t> 에는 변동이 없다</a:t>
            </a:r>
            <a:r>
              <a:rPr lang="en-US" altLang="ko-KR" dirty="0"/>
              <a:t>. 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 err="1"/>
              <a:t>w_retry</a:t>
            </a:r>
            <a:r>
              <a:rPr lang="ko-KR" altLang="en-US" dirty="0"/>
              <a:t> 자체가 </a:t>
            </a:r>
            <a:r>
              <a:rPr lang="ko-KR" altLang="en-US" dirty="0" err="1"/>
              <a:t>의미있는</a:t>
            </a:r>
            <a:r>
              <a:rPr lang="ko-KR" altLang="en-US" dirty="0"/>
              <a:t> </a:t>
            </a:r>
            <a:r>
              <a:rPr lang="en-US" altLang="ko-KR" dirty="0"/>
              <a:t>hyper parameter</a:t>
            </a:r>
            <a:r>
              <a:rPr lang="ko-KR" altLang="en-US" dirty="0"/>
              <a:t>가 아님을 확인할 수 있었다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1481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883B3-987E-7918-7700-423D97700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A4722C3-95C7-8F1B-6FAC-BF63F4967889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Ablation</a:t>
            </a:r>
            <a:r>
              <a:rPr lang="ko-KR" alt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-US" altLang="ko-KR" sz="32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learning_rate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C3A8145-A17A-2F83-94AF-C794D9DF2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3280217"/>
              </p:ext>
            </p:extLst>
          </p:nvPr>
        </p:nvGraphicFramePr>
        <p:xfrm>
          <a:off x="1021356" y="1493520"/>
          <a:ext cx="10356560" cy="350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578">
                  <a:extLst>
                    <a:ext uri="{9D8B030D-6E8A-4147-A177-3AD203B41FA5}">
                      <a16:colId xmlns:a16="http://schemas.microsoft.com/office/drawing/2014/main" val="2600981979"/>
                    </a:ext>
                  </a:extLst>
                </a:gridCol>
                <a:gridCol w="1258577">
                  <a:extLst>
                    <a:ext uri="{9D8B030D-6E8A-4147-A177-3AD203B41FA5}">
                      <a16:colId xmlns:a16="http://schemas.microsoft.com/office/drawing/2014/main" val="40340816"/>
                    </a:ext>
                  </a:extLst>
                </a:gridCol>
                <a:gridCol w="1624537">
                  <a:extLst>
                    <a:ext uri="{9D8B030D-6E8A-4147-A177-3AD203B41FA5}">
                      <a16:colId xmlns:a16="http://schemas.microsoft.com/office/drawing/2014/main" val="4088684244"/>
                    </a:ext>
                  </a:extLst>
                </a:gridCol>
                <a:gridCol w="1995045">
                  <a:extLst>
                    <a:ext uri="{9D8B030D-6E8A-4147-A177-3AD203B41FA5}">
                      <a16:colId xmlns:a16="http://schemas.microsoft.com/office/drawing/2014/main" val="3668759861"/>
                    </a:ext>
                  </a:extLst>
                </a:gridCol>
                <a:gridCol w="3177823">
                  <a:extLst>
                    <a:ext uri="{9D8B030D-6E8A-4147-A177-3AD203B41FA5}">
                      <a16:colId xmlns:a16="http://schemas.microsoft.com/office/drawing/2014/main" val="4122258605"/>
                    </a:ext>
                  </a:extLst>
                </a:gridCol>
              </a:tblGrid>
              <a:tr h="259608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Reward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F1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tokens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 distribution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(A / R / E)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17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cheap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0.1671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0.1722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262.4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 / 0.00 / 0.00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7538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strong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405.8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88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random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0.2004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0.5498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335.0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0.51 / 0.00 / 0.49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504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learning_rate</a:t>
                      </a:r>
                      <a:r>
                        <a:rPr lang="en-US" dirty="0"/>
                        <a:t>= 1e-3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(default)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406.2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80381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learning_rate</a:t>
                      </a:r>
                      <a:r>
                        <a:rPr lang="en-US" dirty="0"/>
                        <a:t>= 1e-4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406.2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328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learning_rate</a:t>
                      </a:r>
                      <a:r>
                        <a:rPr lang="en-US" dirty="0"/>
                        <a:t>= 1e-5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406.2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1.00 / 0.00 / 0.00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171103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Reward = 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F1_score​​−w</a:t>
                      </a: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token_ratio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​−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w_strong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strong_ratio−w_retry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retry_ratio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Action : A = Accept, R = Retry, E = Escalate</a:t>
                      </a:r>
                      <a:endParaRPr lang="en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solidFill>
                      <a:srgbClr val="14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1911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D21A725-B132-4310-AF9B-AFA4CC71266F}"/>
              </a:ext>
            </a:extLst>
          </p:cNvPr>
          <p:cNvSpPr txBox="1"/>
          <p:nvPr/>
        </p:nvSpPr>
        <p:spPr>
          <a:xfrm>
            <a:off x="925975" y="5254907"/>
            <a:ext cx="91324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dirty="0"/>
              <a:t>Default </a:t>
            </a:r>
            <a:r>
              <a:rPr lang="en-US" dirty="0" err="1"/>
              <a:t>paramete일</a:t>
            </a:r>
            <a:r>
              <a:rPr lang="en-US" dirty="0"/>
              <a:t> </a:t>
            </a:r>
            <a:r>
              <a:rPr lang="en-US" dirty="0" err="1"/>
              <a:t>때</a:t>
            </a:r>
            <a:r>
              <a:rPr lang="en-US" altLang="ko-KR" dirty="0"/>
              <a:t>, </a:t>
            </a:r>
            <a:r>
              <a:rPr lang="ko-KR" altLang="en-US" dirty="0"/>
              <a:t>학습을 할 수록 무조건 </a:t>
            </a:r>
            <a:r>
              <a:rPr lang="en-US" altLang="ko-KR" dirty="0"/>
              <a:t>cheap -&gt; </a:t>
            </a:r>
            <a:r>
              <a:rPr lang="ko-KR" altLang="en-US" dirty="0"/>
              <a:t>무조건 </a:t>
            </a:r>
            <a:r>
              <a:rPr lang="en-US" altLang="ko-KR" dirty="0"/>
              <a:t>strong </a:t>
            </a:r>
            <a:r>
              <a:rPr lang="ko-KR" altLang="en-US" dirty="0"/>
              <a:t>가는 경향이 있었는데</a:t>
            </a:r>
            <a:r>
              <a:rPr lang="en-US" altLang="ko-KR" dirty="0"/>
              <a:t>, </a:t>
            </a:r>
            <a:r>
              <a:rPr lang="en-US" altLang="ko-KR" dirty="0" err="1"/>
              <a:t>learning_rate</a:t>
            </a:r>
            <a:r>
              <a:rPr lang="ko-KR" altLang="en-US" dirty="0"/>
              <a:t>을 낮춰도 </a:t>
            </a:r>
            <a:r>
              <a:rPr lang="en-US" altLang="ko-KR" dirty="0"/>
              <a:t>, </a:t>
            </a:r>
            <a:r>
              <a:rPr lang="ko-KR" altLang="en-US" dirty="0"/>
              <a:t>해당 경향성을 바꿀 수 없었다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r>
              <a:rPr lang="en-US" altLang="ko-KR" dirty="0" err="1"/>
              <a:t>Learning_rate</a:t>
            </a:r>
            <a:r>
              <a:rPr lang="ko-KR" altLang="en-US" dirty="0"/>
              <a:t>은 현재 </a:t>
            </a:r>
            <a:r>
              <a:rPr lang="en-US" altLang="ko-KR" dirty="0"/>
              <a:t>accept, retry, escalate action</a:t>
            </a:r>
            <a:r>
              <a:rPr lang="ko-KR" altLang="en-US" dirty="0"/>
              <a:t>을 </a:t>
            </a:r>
            <a:r>
              <a:rPr lang="en-US" altLang="ko-KR" dirty="0"/>
              <a:t>routing </a:t>
            </a:r>
            <a:r>
              <a:rPr lang="ko-KR" altLang="en-US" dirty="0"/>
              <a:t>결정하는 중요한 </a:t>
            </a:r>
            <a:r>
              <a:rPr lang="en-US" altLang="ko-KR" dirty="0"/>
              <a:t>parameter</a:t>
            </a:r>
            <a:r>
              <a:rPr lang="ko-KR" altLang="en-US" dirty="0"/>
              <a:t>가 아님을 알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8400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EE94B-A4E5-77B7-120B-B2D328F8D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0EBE173-F7FC-0DD1-40E7-6412B3E70B8B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Ablation</a:t>
            </a:r>
            <a:r>
              <a:rPr lang="ko-KR" alt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(gamma)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0BBF13FA-17A0-F175-1F4F-14760BC85E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906652"/>
              </p:ext>
            </p:extLst>
          </p:nvPr>
        </p:nvGraphicFramePr>
        <p:xfrm>
          <a:off x="1021356" y="1493520"/>
          <a:ext cx="1035656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1313">
                  <a:extLst>
                    <a:ext uri="{9D8B030D-6E8A-4147-A177-3AD203B41FA5}">
                      <a16:colId xmlns:a16="http://schemas.microsoft.com/office/drawing/2014/main" val="2600981979"/>
                    </a:ext>
                  </a:extLst>
                </a:gridCol>
                <a:gridCol w="1487842">
                  <a:extLst>
                    <a:ext uri="{9D8B030D-6E8A-4147-A177-3AD203B41FA5}">
                      <a16:colId xmlns:a16="http://schemas.microsoft.com/office/drawing/2014/main" val="40340816"/>
                    </a:ext>
                  </a:extLst>
                </a:gridCol>
                <a:gridCol w="1624537">
                  <a:extLst>
                    <a:ext uri="{9D8B030D-6E8A-4147-A177-3AD203B41FA5}">
                      <a16:colId xmlns:a16="http://schemas.microsoft.com/office/drawing/2014/main" val="4088684244"/>
                    </a:ext>
                  </a:extLst>
                </a:gridCol>
                <a:gridCol w="1995045">
                  <a:extLst>
                    <a:ext uri="{9D8B030D-6E8A-4147-A177-3AD203B41FA5}">
                      <a16:colId xmlns:a16="http://schemas.microsoft.com/office/drawing/2014/main" val="3668759861"/>
                    </a:ext>
                  </a:extLst>
                </a:gridCol>
                <a:gridCol w="3177823">
                  <a:extLst>
                    <a:ext uri="{9D8B030D-6E8A-4147-A177-3AD203B41FA5}">
                      <a16:colId xmlns:a16="http://schemas.microsoft.com/office/drawing/2014/main" val="4122258605"/>
                    </a:ext>
                  </a:extLst>
                </a:gridCol>
              </a:tblGrid>
              <a:tr h="259608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Reward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F1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tokens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 distribution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(A / R / E)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17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cheap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0.1671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0.1722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262.4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 / 0.00 / 0.00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7538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strong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405.8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88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random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0.2004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0.5498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335.0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0.51 / 0.00 / 0.49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504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gamma = 0.99</a:t>
                      </a:r>
                    </a:p>
                    <a:p>
                      <a:r>
                        <a:rPr lang="en-US" dirty="0"/>
                        <a:t>(default)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406.2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6947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gamma = 0.90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0.3072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0.9235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386.2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0.13 / 0.00 / 0.87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381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gamma = 0.85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0.2760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0.9275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393.1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0.08 / 0.00 / 0.92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328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gamma = 0.8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0.2760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0.9275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393.1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0.08 / 0.00 / 0.92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92441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Reward = 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F1_score​​−w</a:t>
                      </a: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token_ratio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​−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w_strong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strong_ratio−w_retry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retry_ratio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Action : A = Accept, R = Retry, E = Escalate</a:t>
                      </a:r>
                      <a:endParaRPr lang="en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solidFill>
                      <a:srgbClr val="14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1911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4ADEBE2-743B-9333-AD89-65054A47A758}"/>
              </a:ext>
            </a:extLst>
          </p:cNvPr>
          <p:cNvSpPr txBox="1"/>
          <p:nvPr/>
        </p:nvSpPr>
        <p:spPr>
          <a:xfrm>
            <a:off x="1021356" y="5474825"/>
            <a:ext cx="913242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gamma </a:t>
            </a:r>
            <a:r>
              <a:rPr lang="en-US" dirty="0" err="1"/>
              <a:t>값을</a:t>
            </a:r>
            <a:r>
              <a:rPr lang="en-US" dirty="0"/>
              <a:t> </a:t>
            </a:r>
            <a:r>
              <a:rPr lang="en-US" dirty="0" err="1"/>
              <a:t>낮추면서</a:t>
            </a:r>
            <a:r>
              <a:rPr lang="en-US" dirty="0"/>
              <a:t> </a:t>
            </a:r>
            <a:r>
              <a:rPr lang="en-US" dirty="0" err="1"/>
              <a:t>처음으로</a:t>
            </a:r>
            <a:r>
              <a:rPr lang="en-US" dirty="0"/>
              <a:t> cheap </a:t>
            </a:r>
            <a:r>
              <a:rPr lang="en-US" dirty="0" err="1"/>
              <a:t>model로</a:t>
            </a:r>
            <a:r>
              <a:rPr lang="en-US" dirty="0"/>
              <a:t> </a:t>
            </a:r>
            <a:r>
              <a:rPr lang="en-US" dirty="0" err="1"/>
              <a:t>받는</a:t>
            </a:r>
            <a:r>
              <a:rPr lang="en-US" dirty="0"/>
              <a:t> </a:t>
            </a:r>
            <a:r>
              <a:rPr lang="en-US" dirty="0" err="1"/>
              <a:t>결과의</a:t>
            </a:r>
            <a:r>
              <a:rPr lang="en-US" dirty="0"/>
              <a:t> </a:t>
            </a:r>
            <a:r>
              <a:rPr lang="en-US" dirty="0" err="1"/>
              <a:t>가치가</a:t>
            </a:r>
            <a:r>
              <a:rPr lang="en-US" dirty="0"/>
              <a:t> </a:t>
            </a:r>
            <a:r>
              <a:rPr lang="en-US" dirty="0" err="1"/>
              <a:t>높아짐을</a:t>
            </a:r>
            <a:r>
              <a:rPr lang="en-US" dirty="0"/>
              <a:t> </a:t>
            </a:r>
            <a:r>
              <a:rPr lang="en-US" dirty="0" err="1"/>
              <a:t>기대했다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Cheap </a:t>
            </a:r>
            <a:r>
              <a:rPr lang="en-US" dirty="0" err="1"/>
              <a:t>model을</a:t>
            </a:r>
            <a:r>
              <a:rPr lang="en-US" dirty="0"/>
              <a:t> </a:t>
            </a:r>
            <a:r>
              <a:rPr lang="en-US" dirty="0" err="1"/>
              <a:t>선택하는</a:t>
            </a:r>
            <a:r>
              <a:rPr lang="en-US" dirty="0"/>
              <a:t> </a:t>
            </a:r>
            <a:r>
              <a:rPr lang="en-US" dirty="0" err="1"/>
              <a:t>비율이</a:t>
            </a:r>
            <a:r>
              <a:rPr lang="en-US" dirty="0"/>
              <a:t> </a:t>
            </a:r>
            <a:r>
              <a:rPr lang="en-US" dirty="0" err="1"/>
              <a:t>생기기는</a:t>
            </a:r>
            <a:r>
              <a:rPr lang="en-US" dirty="0"/>
              <a:t> </a:t>
            </a:r>
            <a:r>
              <a:rPr lang="en-US" dirty="0" err="1"/>
              <a:t>것을</a:t>
            </a:r>
            <a:r>
              <a:rPr lang="en-US" dirty="0"/>
              <a:t> </a:t>
            </a:r>
            <a:r>
              <a:rPr lang="en-US" dirty="0" err="1"/>
              <a:t>통해</a:t>
            </a:r>
            <a:r>
              <a:rPr lang="en-US" dirty="0"/>
              <a:t> gamma </a:t>
            </a:r>
            <a:r>
              <a:rPr lang="en-US" dirty="0" err="1"/>
              <a:t>값도</a:t>
            </a:r>
            <a:r>
              <a:rPr lang="en-US" dirty="0"/>
              <a:t> </a:t>
            </a:r>
            <a:r>
              <a:rPr lang="en-US" dirty="0" err="1"/>
              <a:t>routing에</a:t>
            </a:r>
            <a:r>
              <a:rPr lang="en-US" dirty="0"/>
              <a:t> </a:t>
            </a:r>
            <a:r>
              <a:rPr lang="en-US" dirty="0" err="1"/>
              <a:t>의미가</a:t>
            </a:r>
            <a:r>
              <a:rPr lang="en-US" dirty="0"/>
              <a:t> </a:t>
            </a:r>
            <a:r>
              <a:rPr lang="en-US" dirty="0" err="1"/>
              <a:t>있는</a:t>
            </a:r>
            <a:r>
              <a:rPr lang="en-US" dirty="0"/>
              <a:t> parameter </a:t>
            </a:r>
            <a:r>
              <a:rPr lang="en-US" dirty="0" err="1"/>
              <a:t>임을</a:t>
            </a:r>
            <a:r>
              <a:rPr lang="en-US" dirty="0"/>
              <a:t> </a:t>
            </a:r>
            <a:r>
              <a:rPr lang="en-US" dirty="0" err="1"/>
              <a:t>알</a:t>
            </a:r>
            <a:r>
              <a:rPr lang="en-US" dirty="0"/>
              <a:t> </a:t>
            </a:r>
            <a:r>
              <a:rPr lang="en-US" dirty="0" err="1"/>
              <a:t>수</a:t>
            </a:r>
            <a:r>
              <a:rPr lang="en-US" dirty="0"/>
              <a:t> </a:t>
            </a:r>
            <a:r>
              <a:rPr lang="en-US" dirty="0" err="1"/>
              <a:t>있다</a:t>
            </a:r>
            <a:r>
              <a:rPr lang="en-US" altLang="ko-KR" dirty="0"/>
              <a:t>.</a:t>
            </a:r>
            <a:r>
              <a:rPr lang="en-US" dirty="0"/>
              <a:t> </a:t>
            </a:r>
            <a:endParaRPr lang="ko-US" dirty="0"/>
          </a:p>
        </p:txBody>
      </p:sp>
    </p:spTree>
    <p:extLst>
      <p:ext uri="{BB962C8B-B14F-4D97-AF65-F5344CB8AC3E}">
        <p14:creationId xmlns:p14="http://schemas.microsoft.com/office/powerpoint/2010/main" val="21229952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886D7-E7DB-6E72-B076-D96631F7C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696F58B-664E-9F82-B7C0-0CA0734ADD3F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Ablation</a:t>
            </a:r>
            <a:r>
              <a:rPr lang="ko-KR" alt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(entropy </a:t>
            </a:r>
            <a:r>
              <a:rPr lang="en-US" altLang="ko-KR" sz="3200" b="1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coef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2EA53D2A-E469-658E-CD0A-4A09C13EB1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072976"/>
              </p:ext>
            </p:extLst>
          </p:nvPr>
        </p:nvGraphicFramePr>
        <p:xfrm>
          <a:off x="1021356" y="1121989"/>
          <a:ext cx="1035656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7348">
                  <a:extLst>
                    <a:ext uri="{9D8B030D-6E8A-4147-A177-3AD203B41FA5}">
                      <a16:colId xmlns:a16="http://schemas.microsoft.com/office/drawing/2014/main" val="2600981979"/>
                    </a:ext>
                  </a:extLst>
                </a:gridCol>
                <a:gridCol w="1061807">
                  <a:extLst>
                    <a:ext uri="{9D8B030D-6E8A-4147-A177-3AD203B41FA5}">
                      <a16:colId xmlns:a16="http://schemas.microsoft.com/office/drawing/2014/main" val="40340816"/>
                    </a:ext>
                  </a:extLst>
                </a:gridCol>
                <a:gridCol w="1624537">
                  <a:extLst>
                    <a:ext uri="{9D8B030D-6E8A-4147-A177-3AD203B41FA5}">
                      <a16:colId xmlns:a16="http://schemas.microsoft.com/office/drawing/2014/main" val="4088684244"/>
                    </a:ext>
                  </a:extLst>
                </a:gridCol>
                <a:gridCol w="1995045">
                  <a:extLst>
                    <a:ext uri="{9D8B030D-6E8A-4147-A177-3AD203B41FA5}">
                      <a16:colId xmlns:a16="http://schemas.microsoft.com/office/drawing/2014/main" val="3668759861"/>
                    </a:ext>
                  </a:extLst>
                </a:gridCol>
                <a:gridCol w="3177823">
                  <a:extLst>
                    <a:ext uri="{9D8B030D-6E8A-4147-A177-3AD203B41FA5}">
                      <a16:colId xmlns:a16="http://schemas.microsoft.com/office/drawing/2014/main" val="4122258605"/>
                    </a:ext>
                  </a:extLst>
                </a:gridCol>
              </a:tblGrid>
              <a:tr h="259608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Reward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F1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tokens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 distribution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(A / R / E)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17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cheap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0.1671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0.1722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262.4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 / 0.00 / 0.00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7538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strong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405.8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88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random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0.2004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0.5498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335.0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0.51 / 0.00 / 0.49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504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Entrophy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coef</a:t>
                      </a:r>
                      <a:r>
                        <a:rPr lang="en-US" dirty="0"/>
                        <a:t> = 0.01</a:t>
                      </a:r>
                    </a:p>
                    <a:p>
                      <a:r>
                        <a:rPr lang="en-US" dirty="0"/>
                        <a:t>(default)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406.2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6947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Entrophy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coef</a:t>
                      </a:r>
                      <a:r>
                        <a:rPr lang="en-US" dirty="0"/>
                        <a:t>  = 0.05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0.2761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0.5833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319.4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0.57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0.43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381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Entrophy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coef</a:t>
                      </a:r>
                      <a:r>
                        <a:rPr lang="en-US" dirty="0"/>
                        <a:t>  = 0.15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0.2760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0.9275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393.1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0.08 / 0.00 / 0.92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328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Entrophy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coef</a:t>
                      </a:r>
                      <a:r>
                        <a:rPr lang="en-US" dirty="0"/>
                        <a:t>  = 0.3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0.3192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0.9004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374.4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0.00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0.82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92441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Reward = 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F1_score​​−w</a:t>
                      </a: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token_ratio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​−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w_strong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strong_ratio−w_retry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retry_ratio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Action : A = Accept, R = Retry, E = Escalate</a:t>
                      </a:r>
                      <a:endParaRPr lang="en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solidFill>
                      <a:srgbClr val="14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19114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D8A33B5F-1D5E-B3B3-3095-5B6F3E4AF0EB}"/>
              </a:ext>
            </a:extLst>
          </p:cNvPr>
          <p:cNvSpPr txBox="1"/>
          <p:nvPr/>
        </p:nvSpPr>
        <p:spPr>
          <a:xfrm>
            <a:off x="407897" y="5057127"/>
            <a:ext cx="10738522" cy="17370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spcBef>
                <a:spcPts val="130"/>
              </a:spcBef>
              <a:buFontTx/>
              <a:buChar char="-"/>
            </a:pPr>
            <a:r>
              <a:rPr lang="ko-US" dirty="0"/>
              <a:t> </a:t>
            </a:r>
            <a:r>
              <a:rPr lang="en-US" dirty="0" err="1"/>
              <a:t>Entropy_coef</a:t>
            </a:r>
            <a:r>
              <a:rPr lang="en-US" dirty="0"/>
              <a:t> </a:t>
            </a:r>
            <a:r>
              <a:rPr lang="en-US" dirty="0" err="1"/>
              <a:t>값이</a:t>
            </a:r>
            <a:r>
              <a:rPr lang="en-US" dirty="0"/>
              <a:t> </a:t>
            </a:r>
            <a:r>
              <a:rPr lang="en-US" dirty="0" err="1"/>
              <a:t>커지면</a:t>
            </a:r>
            <a:r>
              <a:rPr lang="en-US" dirty="0"/>
              <a:t> </a:t>
            </a:r>
            <a:r>
              <a:rPr lang="en-US" dirty="0" err="1"/>
              <a:t>초반에는</a:t>
            </a:r>
            <a:r>
              <a:rPr lang="en-US" dirty="0"/>
              <a:t> </a:t>
            </a:r>
            <a:r>
              <a:rPr lang="en-US" dirty="0" err="1"/>
              <a:t>여러</a:t>
            </a:r>
            <a:r>
              <a:rPr lang="en-US" dirty="0"/>
              <a:t> </a:t>
            </a:r>
            <a:r>
              <a:rPr lang="en-US" dirty="0" err="1"/>
              <a:t>action들을</a:t>
            </a:r>
            <a:r>
              <a:rPr lang="en-US" dirty="0"/>
              <a:t> </a:t>
            </a:r>
            <a:r>
              <a:rPr lang="en-US" dirty="0" err="1"/>
              <a:t>두루</a:t>
            </a:r>
            <a:r>
              <a:rPr lang="en-US" dirty="0"/>
              <a:t> </a:t>
            </a:r>
            <a:r>
              <a:rPr lang="en-US" dirty="0" err="1"/>
              <a:t>탐색하지만</a:t>
            </a:r>
            <a:r>
              <a:rPr lang="en-US" altLang="ko-KR" dirty="0"/>
              <a:t>, exploration</a:t>
            </a:r>
            <a:r>
              <a:rPr lang="ko-KR" altLang="en-US" dirty="0"/>
              <a:t>이 과도하게 유지되어 정책이 불안정해진다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spcBef>
                <a:spcPts val="130"/>
              </a:spcBef>
              <a:buFontTx/>
              <a:buChar char="-"/>
            </a:pPr>
            <a:r>
              <a:rPr lang="en-US" dirty="0" err="1"/>
              <a:t>반대로</a:t>
            </a:r>
            <a:r>
              <a:rPr lang="en-US" dirty="0"/>
              <a:t> </a:t>
            </a:r>
            <a:r>
              <a:rPr lang="en-US" dirty="0" err="1"/>
              <a:t>너무</a:t>
            </a:r>
            <a:r>
              <a:rPr lang="en-US" dirty="0"/>
              <a:t> </a:t>
            </a:r>
            <a:r>
              <a:rPr lang="en-US" dirty="0" err="1"/>
              <a:t>작으면</a:t>
            </a:r>
            <a:r>
              <a:rPr lang="en-US" dirty="0"/>
              <a:t> </a:t>
            </a:r>
            <a:r>
              <a:rPr lang="en-US" dirty="0" err="1"/>
              <a:t>너무</a:t>
            </a:r>
            <a:r>
              <a:rPr lang="en-US" dirty="0"/>
              <a:t> </a:t>
            </a:r>
            <a:r>
              <a:rPr lang="en-US" dirty="0" err="1"/>
              <a:t>빨리</a:t>
            </a:r>
            <a:r>
              <a:rPr lang="en-US" dirty="0"/>
              <a:t> Escalate </a:t>
            </a:r>
            <a:r>
              <a:rPr lang="en-US" dirty="0" err="1"/>
              <a:t>쪽으로</a:t>
            </a:r>
            <a:r>
              <a:rPr lang="en-US" dirty="0"/>
              <a:t> collapse </a:t>
            </a:r>
            <a:r>
              <a:rPr lang="en-US" dirty="0" err="1"/>
              <a:t>한다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spcBef>
                <a:spcPts val="130"/>
              </a:spcBef>
              <a:buFontTx/>
              <a:buChar char="-"/>
            </a:pPr>
            <a:r>
              <a:rPr lang="en-US" dirty="0"/>
              <a:t>Entropy </a:t>
            </a:r>
            <a:r>
              <a:rPr lang="en-US" dirty="0" err="1"/>
              <a:t>coef</a:t>
            </a:r>
            <a:r>
              <a:rPr lang="en-US" dirty="0"/>
              <a:t> </a:t>
            </a:r>
            <a:r>
              <a:rPr lang="en-US" dirty="0" err="1"/>
              <a:t>값도</a:t>
            </a:r>
            <a:r>
              <a:rPr lang="en-US" dirty="0"/>
              <a:t> exploration </a:t>
            </a:r>
            <a:r>
              <a:rPr lang="en-US" dirty="0" err="1"/>
              <a:t>균형을</a:t>
            </a:r>
            <a:r>
              <a:rPr lang="en-US" dirty="0"/>
              <a:t> </a:t>
            </a:r>
            <a:r>
              <a:rPr lang="en-US" dirty="0" err="1"/>
              <a:t>위해서</a:t>
            </a:r>
            <a:r>
              <a:rPr lang="en-US" dirty="0"/>
              <a:t> routing </a:t>
            </a:r>
            <a:r>
              <a:rPr lang="en-US" dirty="0" err="1"/>
              <a:t>정책을</a:t>
            </a:r>
            <a:r>
              <a:rPr lang="en-US" dirty="0"/>
              <a:t> </a:t>
            </a:r>
            <a:r>
              <a:rPr lang="en-US" dirty="0" err="1"/>
              <a:t>결정하는</a:t>
            </a:r>
            <a:r>
              <a:rPr lang="en-US" dirty="0"/>
              <a:t> </a:t>
            </a:r>
            <a:r>
              <a:rPr lang="en-US" dirty="0" err="1"/>
              <a:t>중요한</a:t>
            </a:r>
            <a:r>
              <a:rPr lang="en-US" dirty="0"/>
              <a:t> </a:t>
            </a:r>
            <a:r>
              <a:rPr lang="en-US" dirty="0" err="1"/>
              <a:t>paramete임을</a:t>
            </a:r>
            <a:r>
              <a:rPr lang="en-US" dirty="0"/>
              <a:t> </a:t>
            </a:r>
            <a:r>
              <a:rPr lang="en-US" dirty="0" err="1"/>
              <a:t>알</a:t>
            </a:r>
            <a:r>
              <a:rPr lang="en-US" dirty="0"/>
              <a:t> </a:t>
            </a:r>
            <a:r>
              <a:rPr lang="en-US" dirty="0" err="1"/>
              <a:t>수</a:t>
            </a:r>
            <a:r>
              <a:rPr lang="en-US" dirty="0"/>
              <a:t> </a:t>
            </a:r>
            <a:r>
              <a:rPr lang="en-US" dirty="0" err="1"/>
              <a:t>있다</a:t>
            </a:r>
            <a:r>
              <a:rPr lang="en-US" altLang="ko-KR" dirty="0"/>
              <a:t>.</a:t>
            </a:r>
            <a:endParaRPr lang="ko-US" dirty="0"/>
          </a:p>
        </p:txBody>
      </p:sp>
    </p:spTree>
    <p:extLst>
      <p:ext uri="{BB962C8B-B14F-4D97-AF65-F5344CB8AC3E}">
        <p14:creationId xmlns:p14="http://schemas.microsoft.com/office/powerpoint/2010/main" val="25158881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641D08-6EC8-2A48-8DE4-603ADEF19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B4F3453-6B99-DA3B-FCFD-444B2ADBDF47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Ablation</a:t>
            </a:r>
            <a:r>
              <a:rPr lang="ko-KR" alt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(num episodes)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2E97AA4-3119-0951-FB3B-6339E5AB65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638695"/>
              </p:ext>
            </p:extLst>
          </p:nvPr>
        </p:nvGraphicFramePr>
        <p:xfrm>
          <a:off x="1021356" y="1493520"/>
          <a:ext cx="10356560" cy="3870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497">
                  <a:extLst>
                    <a:ext uri="{9D8B030D-6E8A-4147-A177-3AD203B41FA5}">
                      <a16:colId xmlns:a16="http://schemas.microsoft.com/office/drawing/2014/main" val="2600981979"/>
                    </a:ext>
                  </a:extLst>
                </a:gridCol>
                <a:gridCol w="1038658">
                  <a:extLst>
                    <a:ext uri="{9D8B030D-6E8A-4147-A177-3AD203B41FA5}">
                      <a16:colId xmlns:a16="http://schemas.microsoft.com/office/drawing/2014/main" val="40340816"/>
                    </a:ext>
                  </a:extLst>
                </a:gridCol>
                <a:gridCol w="1624537">
                  <a:extLst>
                    <a:ext uri="{9D8B030D-6E8A-4147-A177-3AD203B41FA5}">
                      <a16:colId xmlns:a16="http://schemas.microsoft.com/office/drawing/2014/main" val="4088684244"/>
                    </a:ext>
                  </a:extLst>
                </a:gridCol>
                <a:gridCol w="1995045">
                  <a:extLst>
                    <a:ext uri="{9D8B030D-6E8A-4147-A177-3AD203B41FA5}">
                      <a16:colId xmlns:a16="http://schemas.microsoft.com/office/drawing/2014/main" val="3668759861"/>
                    </a:ext>
                  </a:extLst>
                </a:gridCol>
                <a:gridCol w="3177823">
                  <a:extLst>
                    <a:ext uri="{9D8B030D-6E8A-4147-A177-3AD203B41FA5}">
                      <a16:colId xmlns:a16="http://schemas.microsoft.com/office/drawing/2014/main" val="4122258605"/>
                    </a:ext>
                  </a:extLst>
                </a:gridCol>
              </a:tblGrid>
              <a:tr h="259608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Reward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F1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tokens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Action distribution</a:t>
                      </a:r>
                      <a:r>
                        <a:rPr lang="ko-KR" altLang="en-US" dirty="0"/>
                        <a:t> </a:t>
                      </a:r>
                      <a:r>
                        <a:rPr lang="en-US" altLang="ko-KR" dirty="0"/>
                        <a:t>(A / R / E)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31769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cheap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0.1671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0.1722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262.4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1.00 / 0.00 / 0.00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1753859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strong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405.8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4888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Always random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0.2004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0.5498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335.0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0.51 / 0.00 / 0.49</a:t>
                      </a:r>
                      <a:endParaRPr lang="ko-US" dirty="0"/>
                    </a:p>
                  </a:txBody>
                  <a:tcPr>
                    <a:lnB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5504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 episodes = 500</a:t>
                      </a:r>
                    </a:p>
                    <a:p>
                      <a:r>
                        <a:rPr lang="en-US" dirty="0"/>
                        <a:t>(default)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0.2238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0.9314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406.2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0.00 / 0.00 / 1.00</a:t>
                      </a:r>
                      <a:endParaRPr lang="ko-US" dirty="0"/>
                    </a:p>
                  </a:txBody>
                  <a:tcPr>
                    <a:lnT w="76200" cap="flat" cmpd="sng" algn="ctr">
                      <a:solidFill>
                        <a:srgbClr val="14608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069478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num episodes  = 1000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0.3191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0.8933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373.1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0.19 / 0.00 / 0.81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0381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num episodes  = 2000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0.3080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0.9173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379.3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0.14 / 0.00 / 0.86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1328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num episodes = 10000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?</a:t>
                      </a:r>
                      <a:endParaRPr lang="ko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?</a:t>
                      </a:r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1924418"/>
                  </a:ext>
                </a:extLst>
              </a:tr>
              <a:tr h="370840">
                <a:tc gridSpan="5"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Reward = 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F1_score​​−w</a:t>
                      </a:r>
                      <a:r>
                        <a:rPr lang="en-US" altLang="ko-KR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_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 </a:t>
                      </a:r>
                      <a:r>
                        <a:rPr lang="en-US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token_ratio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​−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w_strong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strong_ratio−w_retry</a:t>
                      </a:r>
                      <a:r>
                        <a:rPr lang="en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​</a:t>
                      </a:r>
                      <a:r>
                        <a:rPr lang="ko-KR" alt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r>
                        <a:rPr lang="en" sz="1800" b="1" dirty="0" err="1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retry_ratio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800" b="1" dirty="0">
                          <a:solidFill>
                            <a:schemeClr val="bg1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Action : A = Accept, R = Retry, E = Escalate</a:t>
                      </a:r>
                      <a:endParaRPr lang="en" sz="1800" b="1" dirty="0">
                        <a:solidFill>
                          <a:schemeClr val="bg1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solidFill>
                      <a:srgbClr val="14608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1911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342E3DF-2B67-84D3-C310-BC1619D336CB}"/>
              </a:ext>
            </a:extLst>
          </p:cNvPr>
          <p:cNvSpPr txBox="1"/>
          <p:nvPr/>
        </p:nvSpPr>
        <p:spPr>
          <a:xfrm>
            <a:off x="1021356" y="5706319"/>
            <a:ext cx="1011206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Number of episode</a:t>
            </a:r>
            <a:r>
              <a:rPr lang="ko-US" dirty="0"/>
              <a:t> 가 </a:t>
            </a:r>
            <a:r>
              <a:rPr lang="en-US" altLang="ko-KR" dirty="0"/>
              <a:t>1000</a:t>
            </a:r>
            <a:r>
              <a:rPr lang="ko-KR" altLang="en-US" dirty="0"/>
              <a:t>에서 학습이 어느정도 이루어지고 있다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en-US" altLang="ko-KR" dirty="0"/>
          </a:p>
          <a:p>
            <a:pPr marL="285750" indent="-285750">
              <a:buFontTx/>
              <a:buChar char="-"/>
            </a:pPr>
            <a:r>
              <a:rPr lang="en-US" altLang="ko-KR" dirty="0"/>
              <a:t>Number of episode </a:t>
            </a:r>
            <a:r>
              <a:rPr lang="ko-KR" altLang="en-US" dirty="0"/>
              <a:t>는 리소스 때문에 많이 늘리지 못하지만</a:t>
            </a:r>
            <a:r>
              <a:rPr lang="en-US" altLang="ko-KR" dirty="0"/>
              <a:t>, 1000~2000 </a:t>
            </a:r>
            <a:r>
              <a:rPr lang="ko-KR" altLang="en-US" dirty="0"/>
              <a:t>정도로 하면 좋을 것 같다</a:t>
            </a:r>
            <a:r>
              <a:rPr lang="en-US" altLang="ko-KR" dirty="0"/>
              <a:t>.</a:t>
            </a:r>
          </a:p>
          <a:p>
            <a:pPr marL="285750" indent="-285750">
              <a:buFontTx/>
              <a:buChar char="-"/>
            </a:pPr>
            <a:endParaRPr lang="ko-US" dirty="0"/>
          </a:p>
        </p:txBody>
      </p:sp>
    </p:spTree>
    <p:extLst>
      <p:ext uri="{BB962C8B-B14F-4D97-AF65-F5344CB8AC3E}">
        <p14:creationId xmlns:p14="http://schemas.microsoft.com/office/powerpoint/2010/main" val="239801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7A3D8-AABD-135D-A1B0-4F3FDC632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6C959E-A03C-312B-AA71-109FFDD87AF9}"/>
              </a:ext>
            </a:extLst>
          </p:cNvPr>
          <p:cNvSpPr txBox="1"/>
          <p:nvPr/>
        </p:nvSpPr>
        <p:spPr>
          <a:xfrm>
            <a:off x="879676" y="1997839"/>
            <a:ext cx="1003525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Limitations </a:t>
            </a:r>
          </a:p>
          <a:p>
            <a:r>
              <a:rPr lang="en-US" sz="6000" dirty="0"/>
              <a:t>&amp;</a:t>
            </a:r>
          </a:p>
          <a:p>
            <a:r>
              <a:rPr lang="en-US" sz="6000" dirty="0"/>
              <a:t>Future works</a:t>
            </a:r>
            <a:endParaRPr lang="ko-US" sz="6000" dirty="0"/>
          </a:p>
        </p:txBody>
      </p:sp>
    </p:spTree>
    <p:extLst>
      <p:ext uri="{BB962C8B-B14F-4D97-AF65-F5344CB8AC3E}">
        <p14:creationId xmlns:p14="http://schemas.microsoft.com/office/powerpoint/2010/main" val="34050981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34CD4-4ECD-43B8-AD46-C0E965FF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0C3DC2E-49F7-9A70-367B-FDD8779CF7D7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Limitations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4415CE94-5441-3679-E4B2-C9F429785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558" y="1259383"/>
            <a:ext cx="10428791" cy="5712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ko-US" altLang="ko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Token 비용의 부정확한 추적</a:t>
            </a: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lang="ko-US" altLang="ko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QA 모델로 deepset/roberta-large-squad2를 사용했는데,</a:t>
            </a:r>
            <a:br>
              <a:rPr lang="ko-US" altLang="ko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US" altLang="ko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모델은 호출시 실제로 사용된 토큰 수를 반환하지 않는다.</a:t>
            </a:r>
            <a:r>
              <a:rPr lang="en-US" altLang="ko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US" altLang="ko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따라서 정확한 토큰 수 기반 비용을 쓸 수 없었고 대신 cheap / strong 모델의 크기를 이용해 토큰 비용을 대략적으로 근사했다. 이로 인해 reward에서의 “비용 항”이 실제 비용과 완전히 일치하지 않는 한계가 있었다.</a:t>
            </a:r>
            <a:endParaRPr lang="en-US" altLang="ko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-"/>
            </a:pPr>
            <a:endParaRPr kumimoji="0" lang="en-US" altLang="ko-US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US" altLang="ko-US" sz="16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 호출 비용</a:t>
            </a:r>
            <a:endParaRPr kumimoji="0" lang="en-US" altLang="ko-US" sz="16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US" altLang="ko-US" sz="16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ko-US" altLang="ko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LLM에서 답변을 한 번 생성하는 데 드는 비용이 커서 </a:t>
            </a:r>
            <a:r>
              <a:rPr lang="ko-US" altLang="ko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충분히 많은 에피소드를 반복적으로 실행하기 어려웠다.</a:t>
            </a:r>
            <a:r>
              <a:rPr lang="en-US" altLang="ko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US" altLang="ko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 결과, 학습 곡선을 안정적으로 수렴시킬 만큼 대규모 실험을 진행하는데에는 한계가 있었다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br>
              <a:rPr kumimoji="0" lang="ko-US" altLang="ko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endParaRPr kumimoji="0" lang="ko-US" altLang="ko-US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US" altLang="ko-US" sz="16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에피소드 간 분포 차이에 따른 변동성</a:t>
            </a:r>
            <a:endParaRPr kumimoji="0" lang="en-US" altLang="ko-US" sz="16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US" altLang="ko-US" sz="1600" b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742950" lvl="1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-"/>
            </a:pPr>
            <a:r>
              <a:rPr kumimoji="0" lang="ko-US" altLang="ko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SQuAD 기반으로 매 에피소드마다 다른 질문이 샘플링되기 때문에,</a:t>
            </a:r>
            <a:r>
              <a:rPr lang="ko-US" altLang="ko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에피소드들 사이의 난이도·문장 구조·정답 유형이 균질하지 않다. 이로 인해 학습 과정에서 loss와 reward가 다소 요동치는 구간이 발생하며,</a:t>
            </a:r>
            <a:br>
              <a:rPr lang="ko-US" altLang="ko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ko-US" altLang="ko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정책의 안정적인 수렴을 확인하는 데 한계가 있었다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br>
              <a:rPr kumimoji="0" lang="ko-US" altLang="ko-US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endParaRPr kumimoji="0" lang="ko-US" altLang="ko-US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761858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63648B7-5C30-359D-234F-03553DBF718A}"/>
              </a:ext>
            </a:extLst>
          </p:cNvPr>
          <p:cNvSpPr/>
          <p:nvPr/>
        </p:nvSpPr>
        <p:spPr>
          <a:xfrm>
            <a:off x="407897" y="349032"/>
            <a:ext cx="658403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Future works</a:t>
            </a:r>
            <a:endParaRPr lang="en-US" sz="3200" b="1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2B36F2-3C88-FDEA-A94D-F0D5632B8A0C}"/>
              </a:ext>
            </a:extLst>
          </p:cNvPr>
          <p:cNvSpPr txBox="1"/>
          <p:nvPr/>
        </p:nvSpPr>
        <p:spPr>
          <a:xfrm>
            <a:off x="823731" y="1492210"/>
            <a:ext cx="1054453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Reward </a:t>
            </a:r>
            <a:r>
              <a:rPr lang="en-US" sz="16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재구성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</a:p>
          <a:p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현재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reward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는 직관적으로 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가중합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형태로 설계되어  실제로 각 요소가 정책에 어떻게  영향을 미치는지 해석하기 어렵다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그래서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F1 , token, strong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빈도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retry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빈도 등을 반영하는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agent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들이 각각 있어서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agent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끼리의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상호작용으로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reward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구성하는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multi-objective 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시도 함으로써 원하는 형태의 라우팅 전략을  얻을 수 있다고 기대한다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State feature </a:t>
            </a:r>
            <a:r>
              <a:rPr lang="ko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재구성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</a:p>
          <a:p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현재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state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에는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cheap model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 첫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output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대한 불확실성을 파악하지 못한다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Cheap model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 호출마다 답변이 달라질 수 있으므로 이를 반영하는 것이 좋다고 생각한다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pPr marL="285750" indent="-285750">
              <a:buFontTx/>
              <a:buChar char="-"/>
            </a:pP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Tx/>
              <a:buChar char="-"/>
            </a:pP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또한 현재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state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에는 질문이 요구하는 답변 타입에 대한 정보가 없어서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context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상에서 정책이 직접 추론을 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해야하는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문제가 있었다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 </a:t>
            </a:r>
          </a:p>
          <a:p>
            <a:pPr marL="285750" indent="-285750">
              <a:buFontTx/>
              <a:buChar char="-"/>
            </a:pP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285750" indent="-285750">
              <a:buFontTx/>
              <a:buChar char="-"/>
            </a:pP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State feature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self – </a:t>
            </a:r>
            <a:r>
              <a:rPr lang="en-US" altLang="ko-KR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confidency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질문 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타입등의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더 세분화된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state feature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추가한다면 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episode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간의 유사도가 높아지고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policy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더 잘 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구분지을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것이라고 생각한다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</a:p>
          <a:p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sz="1600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Pipeline </a:t>
            </a:r>
            <a:r>
              <a:rPr lang="en-US" sz="1600" b="1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확장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</a:p>
          <a:p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실험 개요에서 설명했듯 현재 실험은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routing policy2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위한 실험이었는데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이후 실험에서는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routing policy1 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까지 포함한 전체 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pipeline</a:t>
            </a:r>
            <a:r>
              <a:rPr lang="ko-KR" altLang="en-US" sz="16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으로</a:t>
            </a:r>
            <a:r>
              <a:rPr lang="ko-KR" altLang="en-US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확장하여 수행해볼 수 있다고 생각한다</a:t>
            </a:r>
            <a:r>
              <a:rPr lang="en-US" altLang="ko-KR" sz="16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.</a:t>
            </a:r>
            <a:endParaRPr lang="ko-US" sz="16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0268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</TotalTime>
  <Words>2728</Words>
  <Application>Microsoft Macintosh PowerPoint</Application>
  <PresentationFormat>와이드스크린</PresentationFormat>
  <Paragraphs>519</Paragraphs>
  <Slides>27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5" baseType="lpstr">
      <vt:lpstr>Pretendard</vt:lpstr>
      <vt:lpstr>Pretendard Medium</vt:lpstr>
      <vt:lpstr>Aptos</vt:lpstr>
      <vt:lpstr>Aptos Display</vt:lpstr>
      <vt:lpstr>Arial</vt:lpstr>
      <vt:lpstr>Cambria Math</vt:lpstr>
      <vt:lpstr>Symbol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송태호</dc:creator>
  <cp:lastModifiedBy>송태호</cp:lastModifiedBy>
  <cp:revision>5</cp:revision>
  <dcterms:created xsi:type="dcterms:W3CDTF">2025-12-06T14:38:32Z</dcterms:created>
  <dcterms:modified xsi:type="dcterms:W3CDTF">2025-12-07T12:16:44Z</dcterms:modified>
</cp:coreProperties>
</file>